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6" r:id="rId3"/>
    <p:sldId id="278" r:id="rId4"/>
    <p:sldId id="279" r:id="rId5"/>
    <p:sldId id="289" r:id="rId6"/>
    <p:sldId id="295" r:id="rId7"/>
    <p:sldId id="264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  <a:srgbClr val="F3ABA8"/>
    <a:srgbClr val="ABC9EA"/>
    <a:srgbClr val="BC554E"/>
    <a:srgbClr val="FFFFFF"/>
    <a:srgbClr val="D5DBE5"/>
    <a:srgbClr val="55C0AF"/>
    <a:srgbClr val="113F4E"/>
    <a:srgbClr val="5DA2B1"/>
    <a:srgbClr val="3F8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9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CC73A6B-BB26-4B12-BFB8-2B873AE12267}" type="datetimeFigureOut">
              <a:rPr lang="zh-CN" altLang="en-US" smtClean="0"/>
              <a:pPr/>
              <a:t>2025/4/30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E5701FA-A99B-4EA7-BD9A-49A04217BC0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5223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329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369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39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335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913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B39DF-3834-A636-9ABA-733111466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AB9514-3345-12CC-675D-AD56FEF28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24A933-D8A4-5B20-C4FA-7E647423C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D0C072-7E8A-843A-CA19-33558972F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499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097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1ECB1-5A5B-4C6B-8360-EEF4E78043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FCC059-4D8E-4C87-A4D1-E4C9E1D594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04FCF4-9A9C-407F-A896-63764D12F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A6E786-3F61-4FD7-AF4B-5CAEC066F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126972-3EDC-4D3D-817C-4CCC7969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2905"/>
      </p:ext>
    </p:extLst>
  </p:cSld>
  <p:clrMapOvr>
    <a:masterClrMapping/>
  </p:clrMapOvr>
  <p:transition spd="slow" advClick="0" advTm="100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1A1C3F-F90A-43A4-9ECD-F00719B565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48D4E4-35F0-4517-A710-16EC966268E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82627A-5DA8-42DB-A0E5-883D1EDEE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09759C-075D-43BD-B60D-906336D3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769EA7-A4C8-47A7-9F4D-3E4EF4FEB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20956"/>
      </p:ext>
    </p:extLst>
  </p:cSld>
  <p:clrMapOvr>
    <a:masterClrMapping/>
  </p:clrMapOvr>
  <p:transition spd="slow" advClick="0" advTm="100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30536-6B8C-499F-B691-282A56B22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2699D7-1ACB-40EF-8948-18C67F14DC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9C0F2B-275E-4EFF-8736-59FDF6520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6CBD68-7556-4277-A9CC-0E3698CDD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552142-513F-4E0A-A832-EC32ABA8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929136"/>
      </p:ext>
    </p:extLst>
  </p:cSld>
  <p:clrMapOvr>
    <a:masterClrMapping/>
  </p:clrMapOvr>
  <p:transition spd="slow" advClick="0" advTm="100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A5A0C-41EF-4EF1-B9B9-E309AF8245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98F9A6-7009-487C-9335-9B2655AF34B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2523A4-6D85-4E26-BAD9-B5DED0F0D86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1B68CC-03DA-4133-9A62-45795BDC5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433D43-A8D0-4374-ACF8-E247BE39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94F08B-6269-48AE-88E7-BDBB0876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417601"/>
      </p:ext>
    </p:extLst>
  </p:cSld>
  <p:clrMapOvr>
    <a:masterClrMapping/>
  </p:clrMapOvr>
  <p:transition spd="slow" advClick="0" advTm="100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4134E-0BE5-46C0-929C-F9D4A023F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2113C5-ADEA-4974-BB14-86DAC381EA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390FF6-61F4-44DF-9C58-15C7C9EAC0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84E920-1203-43C5-9836-AEA9552633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FAE36B-07A4-4C4E-9A5F-B58F2699821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6239AA-BEC2-47D5-B295-1C438B9D2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37E89F-FD72-4884-A2DC-4121C65FD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094C68-E649-4A58-B70D-88A203523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100364" y="6422314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www.1ppt.com/jiaoan/  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83660699"/>
      </p:ext>
    </p:extLst>
  </p:cSld>
  <p:clrMapOvr>
    <a:masterClrMapping/>
  </p:clrMapOvr>
  <p:transition spd="slow" advClick="0" advTm="100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5F94A4-B8D7-43C1-80C9-73E124F4F7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84A534-7F72-44DB-AAA0-39763DA8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8F81B8-2C1B-46DA-9FC4-FA4EA6C31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DEF5E0-2338-4BAC-8681-B56466F2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449038"/>
      </p:ext>
    </p:extLst>
  </p:cSld>
  <p:clrMapOvr>
    <a:masterClrMapping/>
  </p:clrMapOvr>
  <p:transition spd="slow" advClick="0" advTm="100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AE1E47-1B45-4380-AE38-48F51410E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744B09-219A-4BAE-A64A-BA6F51CC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5B1853-F3A0-4843-A7DD-B071FABAE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800759"/>
      </p:ext>
    </p:extLst>
  </p:cSld>
  <p:clrMapOvr>
    <a:masterClrMapping/>
  </p:clrMapOvr>
  <p:transition spd="slow" advClick="0" advTm="100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A05EE-C361-48B2-881C-5FEDBCF95C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6B7BA2-C07B-486A-AEBA-E8A379FAE2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09B8D7-C342-4349-A52B-0F630C4968F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1A0A05-2E78-4B68-9275-72A698131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8D064B-850C-449A-B16D-36BA1C5A1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919E08-2488-46A8-8B39-E8E3B1A72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275376"/>
      </p:ext>
    </p:extLst>
  </p:cSld>
  <p:clrMapOvr>
    <a:masterClrMapping/>
  </p:clrMapOvr>
  <p:transition spd="slow" advClick="0" advTm="100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9821D-3169-462D-BDC5-707DAA373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5970DE-180B-463A-842D-4B948B1E4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48C78-1503-4FD7-8859-990F963DFC6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4969D1-8A89-4051-A7A3-053E791C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B7B8CF-C72E-438F-A999-E8DA5482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73A437-B948-459B-B14D-44D796DEE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57962"/>
      </p:ext>
    </p:extLst>
  </p:cSld>
  <p:clrMapOvr>
    <a:masterClrMapping/>
  </p:clrMapOvr>
  <p:transition spd="slow" advClick="0" advTm="100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517C0B-618B-4B07-8FEE-212F45DF6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6156C6-4F3E-4B26-BEF6-C658183E3C3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0B155B-888E-4B42-8139-225B7CE4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848B8B-A45D-48D2-B95C-C2340234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2847D2-37FF-491E-86F7-2A77B2A5E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515817"/>
      </p:ext>
    </p:extLst>
  </p:cSld>
  <p:clrMapOvr>
    <a:masterClrMapping/>
  </p:clrMapOvr>
  <p:transition spd="slow" advClick="0" advTm="100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B51B0E-C5ED-4931-852F-A8DA7E1DB9A4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5174B4-31E8-4BEF-8942-FD3548C70B7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B8F4D3-431E-44CF-A028-C91E2137E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D0F09A-E73B-492B-B10B-3218D86A8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BE3E4A-3F9F-4FA6-A0A2-122D22E57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763146"/>
      </p:ext>
    </p:extLst>
  </p:cSld>
  <p:clrMapOvr>
    <a:masterClrMapping/>
  </p:clrMapOvr>
  <p:transition spd="slow" advClick="0" advTm="1000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C74BBE8-1815-4000-8008-945E8B561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altLang="zh-CN" dirty="0"/>
              <a:t>Freepptbackgrounds.net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E314DF-819C-4FF1-9C2E-69194E155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A1525E-7C66-46A7-89CD-0A0836A4B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86BAB08-D03A-4FEF-8092-001CB785BBAB}" type="datetimeFigureOut">
              <a:rPr lang="zh-CN" altLang="en-US" smtClean="0"/>
              <a:pPr/>
              <a:t>2025/4/30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269161-46AB-416B-9C71-590B71BBF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47D277-5155-4804-A42E-790F5C4F8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8AB37BB-E8A6-440B-8775-2A002C97BC5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920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1000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EA6CA8BE-1744-42CB-AF91-E913C4466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C00000"/>
          </a:solidFill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65F9F94-4386-4844-A145-9DF0B233A872}"/>
              </a:ext>
            </a:extLst>
          </p:cNvPr>
          <p:cNvSpPr txBox="1"/>
          <p:nvPr/>
        </p:nvSpPr>
        <p:spPr>
          <a:xfrm>
            <a:off x="5194852" y="2278927"/>
            <a:ext cx="6583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113F4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软雅黑" panose="020B0503020204020204" pitchFamily="34" charset="-122"/>
              </a:rPr>
              <a:t>Nairobi Education Insights </a:t>
            </a:r>
            <a:endParaRPr lang="zh-CN" altLang="en-US" sz="4000" b="1" dirty="0">
              <a:solidFill>
                <a:srgbClr val="113F4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8EA1519-73E9-4B4D-B90B-7A63B77D465D}"/>
              </a:ext>
            </a:extLst>
          </p:cNvPr>
          <p:cNvSpPr/>
          <p:nvPr/>
        </p:nvSpPr>
        <p:spPr>
          <a:xfrm>
            <a:off x="6222333" y="3534523"/>
            <a:ext cx="6000750" cy="3955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spc="600" dirty="0">
                <a:solidFill>
                  <a:srgbClr val="113F4E"/>
                </a:solidFill>
                <a:latin typeface="+mj-lt"/>
                <a:ea typeface="微软雅黑" panose="020B0503020204020204" pitchFamily="34" charset="-122"/>
              </a:rPr>
              <a:t>Analysis presentation.</a:t>
            </a:r>
            <a:endParaRPr lang="zh-CN" altLang="en-US" sz="2800" spc="600" dirty="0">
              <a:solidFill>
                <a:srgbClr val="113F4E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26707D0-568E-446A-B476-87F58A172B16}"/>
              </a:ext>
            </a:extLst>
          </p:cNvPr>
          <p:cNvSpPr/>
          <p:nvPr/>
        </p:nvSpPr>
        <p:spPr>
          <a:xfrm>
            <a:off x="6336351" y="4324350"/>
            <a:ext cx="4045899" cy="361016"/>
          </a:xfrm>
          <a:prstGeom prst="roundRect">
            <a:avLst>
              <a:gd name="adj" fmla="val 0"/>
            </a:avLst>
          </a:prstGeom>
          <a:solidFill>
            <a:srgbClr val="55C0A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</a:rPr>
              <a:t> AUTHOR – CHRISTINE KIRIMI</a:t>
            </a:r>
            <a:endParaRPr lang="zh-CN" altLang="en-US" sz="1400" dirty="0">
              <a:solidFill>
                <a:schemeClr val="bg1"/>
              </a:solidFill>
              <a:latin typeface="+mj-lt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17804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41501E81-1AB7-4A69-BA8B-D4667D4D517A}"/>
              </a:ext>
            </a:extLst>
          </p:cNvPr>
          <p:cNvGrpSpPr/>
          <p:nvPr/>
        </p:nvGrpSpPr>
        <p:grpSpPr>
          <a:xfrm>
            <a:off x="509695" y="337498"/>
            <a:ext cx="3264309" cy="572136"/>
            <a:chOff x="956666" y="3498086"/>
            <a:chExt cx="3264309" cy="572136"/>
          </a:xfrm>
        </p:grpSpPr>
        <p:sp>
          <p:nvSpPr>
            <p:cNvPr id="8" name="TextBox 38">
              <a:extLst>
                <a:ext uri="{FF2B5EF4-FFF2-40B4-BE49-F238E27FC236}">
                  <a16:creationId xmlns:a16="http://schemas.microsoft.com/office/drawing/2014/main" id="{C53C28E3-DC0F-4C61-A42D-5AC7B5E4C36E}"/>
                </a:ext>
              </a:extLst>
            </p:cNvPr>
            <p:cNvSpPr txBox="1"/>
            <p:nvPr/>
          </p:nvSpPr>
          <p:spPr>
            <a:xfrm>
              <a:off x="1610965" y="3498086"/>
              <a:ext cx="2610010" cy="523220"/>
            </a:xfrm>
            <a:prstGeom prst="rect">
              <a:avLst/>
            </a:prstGeom>
            <a:noFill/>
          </p:spPr>
          <p:txBody>
            <a:bodyPr wrap="none" rtlCol="0" anchor="t" anchorCtr="1">
              <a:spAutoFit/>
            </a:bodyPr>
            <a:lstStyle/>
            <a:p>
              <a:pPr algn="ctr"/>
              <a:r>
                <a:rPr lang="en-US" altLang="zh-CN" sz="2800" b="1" spc="600" dirty="0">
                  <a:solidFill>
                    <a:schemeClr val="bg2">
                      <a:lumMod val="1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微软雅黑" panose="020B0503020204020204" pitchFamily="34" charset="-122"/>
                  <a:cs typeface="Microsoft JhengHei Light" panose="020B0304030504040204" pitchFamily="34" charset="-122"/>
                </a:rPr>
                <a:t>OVERVIEW</a:t>
              </a:r>
              <a:endParaRPr lang="zh-CN" altLang="en-US" sz="800" b="1" spc="60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软雅黑" panose="020B0503020204020204" pitchFamily="34" charset="-122"/>
                <a:cs typeface="Microsoft JhengHei Light" panose="020B0304030504040204" pitchFamily="34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32947FC-0CAF-491E-BB70-4BE979241394}"/>
                </a:ext>
              </a:extLst>
            </p:cNvPr>
            <p:cNvSpPr/>
            <p:nvPr/>
          </p:nvSpPr>
          <p:spPr>
            <a:xfrm>
              <a:off x="956666" y="3498086"/>
              <a:ext cx="448664" cy="448662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j-lt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D41CC49-6D1D-4B11-8791-6EBDB155A635}"/>
                </a:ext>
              </a:extLst>
            </p:cNvPr>
            <p:cNvSpPr/>
            <p:nvPr/>
          </p:nvSpPr>
          <p:spPr>
            <a:xfrm>
              <a:off x="1176679" y="3689818"/>
              <a:ext cx="380404" cy="380404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j-lt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00D7517-8796-4813-A577-53861CC717DB}"/>
              </a:ext>
            </a:extLst>
          </p:cNvPr>
          <p:cNvGrpSpPr/>
          <p:nvPr/>
        </p:nvGrpSpPr>
        <p:grpSpPr>
          <a:xfrm>
            <a:off x="6576566" y="172887"/>
            <a:ext cx="5312775" cy="2825198"/>
            <a:chOff x="6600550" y="174171"/>
            <a:chExt cx="5312775" cy="2825198"/>
          </a:xfrm>
        </p:grpSpPr>
        <p:sp>
          <p:nvSpPr>
            <p:cNvPr id="27" name="圆角矩形 12">
              <a:extLst>
                <a:ext uri="{FF2B5EF4-FFF2-40B4-BE49-F238E27FC236}">
                  <a16:creationId xmlns:a16="http://schemas.microsoft.com/office/drawing/2014/main" id="{9F5CD9FA-F01D-405F-A64A-640A4815AAF9}"/>
                </a:ext>
              </a:extLst>
            </p:cNvPr>
            <p:cNvSpPr/>
            <p:nvPr/>
          </p:nvSpPr>
          <p:spPr bwMode="auto">
            <a:xfrm>
              <a:off x="6600550" y="174171"/>
              <a:ext cx="5312775" cy="2321083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91430" tIns="45716" rIns="91430" bIns="45716" anchor="ctr">
              <a:sp3d/>
            </a:bodyPr>
            <a:lstStyle/>
            <a:p>
              <a:pPr marL="0" lvl="2" algn="ctr" eaLnBrk="0" fontAlgn="ctr" hangingPunct="0">
                <a:buClr>
                  <a:srgbClr val="FF0000"/>
                </a:buClr>
                <a:buSzPct val="70000"/>
                <a:buFont typeface="Wingdings" pitchFamily="2" charset="2"/>
                <a:buChar char="n"/>
                <a:tabLst>
                  <a:tab pos="136509" algn="l"/>
                </a:tabLst>
                <a:defRPr/>
              </a:pPr>
              <a:endParaRPr lang="zh-CN" altLang="en-US" sz="1600" dirty="0">
                <a:solidFill>
                  <a:schemeClr val="tx1"/>
                </a:solidFill>
                <a:latin typeface="+mj-lt"/>
                <a:ea typeface="微软雅黑" pitchFamily="34" charset="-122"/>
              </a:endParaRPr>
            </a:p>
          </p:txBody>
        </p:sp>
        <p:sp>
          <p:nvSpPr>
            <p:cNvPr id="28" name="矩形 87">
              <a:extLst>
                <a:ext uri="{FF2B5EF4-FFF2-40B4-BE49-F238E27FC236}">
                  <a16:creationId xmlns:a16="http://schemas.microsoft.com/office/drawing/2014/main" id="{74EC1EE7-20B3-4659-BB5F-E27177EE6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0179" y="324136"/>
              <a:ext cx="5213518" cy="1200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0" tIns="45716" rIns="91430" bIns="45716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Sustainable development goal 4, is a commitment to ensure inclusive and equitable quality education and promote lifelong learning opportunities for all.</a:t>
              </a: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63E0B207-3543-4725-BF2C-C83B2BEEFB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10084" y="2058536"/>
              <a:ext cx="4096374" cy="940833"/>
              <a:chOff x="855540" y="3513439"/>
              <a:chExt cx="1399872" cy="987727"/>
            </a:xfrm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5F05CB58-48C8-4A93-91DE-AFB9CF92834F}"/>
                  </a:ext>
                </a:extLst>
              </p:cNvPr>
              <p:cNvSpPr/>
              <p:nvPr/>
            </p:nvSpPr>
            <p:spPr>
              <a:xfrm>
                <a:off x="855540" y="3513439"/>
                <a:ext cx="1399872" cy="987727"/>
              </a:xfrm>
              <a:prstGeom prst="rect">
                <a:avLst/>
              </a:prstGeom>
              <a:solidFill>
                <a:srgbClr val="113F4E"/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>
                <a:sp3d/>
              </a:bodyPr>
              <a:lstStyle/>
              <a:p>
                <a:pPr algn="ctr" eaLnBrk="0" fontAlgn="ctr" hangingPunct="0">
                  <a:buClr>
                    <a:srgbClr val="FF0000"/>
                  </a:buClr>
                  <a:buSzPct val="70000"/>
                  <a:buFont typeface="Wingdings" pitchFamily="2" charset="2"/>
                  <a:buChar char="u"/>
                  <a:defRPr/>
                </a:pPr>
                <a:endParaRPr lang="zh-CN" altLang="en-US" b="1" dirty="0">
                  <a:solidFill>
                    <a:schemeClr val="bg1"/>
                  </a:solidFill>
                  <a:latin typeface="+mj-lt"/>
                  <a:ea typeface="微软雅黑" pitchFamily="34" charset="-122"/>
                </a:endParaRPr>
              </a:p>
            </p:txBody>
          </p:sp>
          <p:sp>
            <p:nvSpPr>
              <p:cNvPr id="34" name="矩形 14">
                <a:extLst>
                  <a:ext uri="{FF2B5EF4-FFF2-40B4-BE49-F238E27FC236}">
                    <a16:creationId xmlns:a16="http://schemas.microsoft.com/office/drawing/2014/main" id="{09925835-919E-493D-A851-EB5BE4ECD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4859" y="3825430"/>
                <a:ext cx="1101235" cy="3877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90500" h="38100"/>
              </a:sp3d>
            </p:spPr>
            <p:txBody>
              <a:bodyPr anchor="ctr">
                <a:spAutoFit/>
              </a:bodyPr>
              <a:lstStyle/>
              <a:p>
                <a:pPr algn="ctr" fontAlgn="ctr">
                  <a:buClr>
                    <a:srgbClr val="FF0000"/>
                  </a:buClr>
                  <a:buSzPct val="70000"/>
                  <a:defRPr/>
                </a:pPr>
                <a:r>
                  <a:rPr kumimoji="1" lang="en-US" altLang="zh-CN" b="1" dirty="0">
                    <a:solidFill>
                      <a:schemeClr val="bg1"/>
                    </a:solidFill>
                    <a:latin typeface="+mj-lt"/>
                    <a:ea typeface="微软雅黑" pitchFamily="34" charset="-122"/>
                  </a:rPr>
                  <a:t>The Problem </a:t>
                </a:r>
                <a:endParaRPr kumimoji="1" lang="zh-CN" altLang="en-US" b="1" dirty="0">
                  <a:solidFill>
                    <a:schemeClr val="bg1"/>
                  </a:solidFill>
                  <a:latin typeface="+mj-lt"/>
                  <a:ea typeface="微软雅黑" pitchFamily="34" charset="-122"/>
                </a:endParaRP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15CC260-3701-43E5-A7BD-48EAFA83271E}"/>
              </a:ext>
            </a:extLst>
          </p:cNvPr>
          <p:cNvGrpSpPr/>
          <p:nvPr/>
        </p:nvGrpSpPr>
        <p:grpSpPr>
          <a:xfrm>
            <a:off x="6600550" y="3344432"/>
            <a:ext cx="5312775" cy="3190716"/>
            <a:chOff x="6600550" y="3344432"/>
            <a:chExt cx="5312775" cy="3190716"/>
          </a:xfrm>
        </p:grpSpPr>
        <p:sp>
          <p:nvSpPr>
            <p:cNvPr id="25" name="圆角矩形 10">
              <a:extLst>
                <a:ext uri="{FF2B5EF4-FFF2-40B4-BE49-F238E27FC236}">
                  <a16:creationId xmlns:a16="http://schemas.microsoft.com/office/drawing/2014/main" id="{594F58D6-FC44-4609-82D3-BF9A5F319DBE}"/>
                </a:ext>
              </a:extLst>
            </p:cNvPr>
            <p:cNvSpPr/>
            <p:nvPr/>
          </p:nvSpPr>
          <p:spPr bwMode="auto">
            <a:xfrm>
              <a:off x="6600550" y="3835066"/>
              <a:ext cx="5312775" cy="2700082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30" tIns="45716" rIns="91430" bIns="45716" anchor="ctr">
              <a:sp3d/>
            </a:bodyPr>
            <a:lstStyle/>
            <a:p>
              <a:pPr marL="0" lvl="2" algn="ctr" eaLnBrk="0" fontAlgn="ctr" hangingPunct="0">
                <a:buClr>
                  <a:srgbClr val="FF0000"/>
                </a:buClr>
                <a:buSzPct val="70000"/>
                <a:buFont typeface="Wingdings" pitchFamily="2" charset="2"/>
                <a:buChar char="n"/>
                <a:tabLst>
                  <a:tab pos="136509" algn="l"/>
                </a:tabLst>
                <a:defRPr/>
              </a:pPr>
              <a:endParaRPr lang="zh-CN" altLang="en-US" sz="1600" dirty="0">
                <a:solidFill>
                  <a:schemeClr val="accent2"/>
                </a:solidFill>
                <a:latin typeface="+mj-lt"/>
                <a:ea typeface="微软雅黑" pitchFamily="34" charset="-122"/>
              </a:endParaRPr>
            </a:p>
          </p:txBody>
        </p:sp>
        <p:sp>
          <p:nvSpPr>
            <p:cNvPr id="26" name="矩形 87">
              <a:extLst>
                <a:ext uri="{FF2B5EF4-FFF2-40B4-BE49-F238E27FC236}">
                  <a16:creationId xmlns:a16="http://schemas.microsoft.com/office/drawing/2014/main" id="{71C461E6-262B-4FEE-B7CA-BAD37BF3B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1818" y="4561687"/>
              <a:ext cx="4930240" cy="1938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0" tIns="45716" rIns="91430" bIns="45716">
              <a:spAutoFit/>
            </a:bodyPr>
            <a:lstStyle/>
            <a:p>
              <a:pPr algn="ctr" eaLnBrk="0" fontAlgn="ctr" hangingPunct="0">
                <a:buClr>
                  <a:srgbClr val="FF0000"/>
                </a:buClr>
                <a:buSzPct val="70000"/>
              </a:pPr>
              <a:r>
                <a:rPr lang="en-US" altLang="zh-CN" sz="2000" dirty="0">
                  <a:solidFill>
                    <a:schemeClr val="bg1">
                      <a:lumMod val="50000"/>
                    </a:schemeClr>
                  </a:solidFill>
                  <a:latin typeface="+mj-lt"/>
                  <a:ea typeface="微软雅黑" pitchFamily="34" charset="-122"/>
                </a:rPr>
                <a:t>The objective is to analyze the most significant gaps in the current education infrastructure and propose actionable recommendation for improvement and make good use of the recently secured grant</a:t>
              </a:r>
              <a:endParaRPr lang="zh-CN" altLang="en-US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微软雅黑" pitchFamily="34" charset="-122"/>
              </a:endParaRPr>
            </a:p>
          </p:txBody>
        </p:sp>
        <p:grpSp>
          <p:nvGrpSpPr>
            <p:cNvPr id="30" name="组合 26">
              <a:extLst>
                <a:ext uri="{FF2B5EF4-FFF2-40B4-BE49-F238E27FC236}">
                  <a16:creationId xmlns:a16="http://schemas.microsoft.com/office/drawing/2014/main" id="{2D30B3A5-E129-49F7-95EE-4B2D5C3A44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10084" y="3344432"/>
              <a:ext cx="4096374" cy="943528"/>
              <a:chOff x="855540" y="3513439"/>
              <a:chExt cx="1399872" cy="987727"/>
            </a:xfrm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</p:grpSpPr>
          <p:sp>
            <p:nvSpPr>
              <p:cNvPr id="31" name="圆角矩形 18">
                <a:extLst>
                  <a:ext uri="{FF2B5EF4-FFF2-40B4-BE49-F238E27FC236}">
                    <a16:creationId xmlns:a16="http://schemas.microsoft.com/office/drawing/2014/main" id="{E840B2A2-5A45-4294-B626-B64D916B3A34}"/>
                  </a:ext>
                </a:extLst>
              </p:cNvPr>
              <p:cNvSpPr/>
              <p:nvPr/>
            </p:nvSpPr>
            <p:spPr>
              <a:xfrm>
                <a:off x="855540" y="3513439"/>
                <a:ext cx="1399872" cy="987727"/>
              </a:xfrm>
              <a:prstGeom prst="roundRect">
                <a:avLst>
                  <a:gd name="adj" fmla="val 0"/>
                </a:avLst>
              </a:prstGeom>
              <a:solidFill>
                <a:srgbClr val="55C0AF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anchor="ctr">
                <a:sp3d/>
              </a:bodyPr>
              <a:lstStyle/>
              <a:p>
                <a:pPr algn="ctr" eaLnBrk="0" fontAlgn="ctr" hangingPunct="0">
                  <a:buClr>
                    <a:srgbClr val="FF0000"/>
                  </a:buClr>
                  <a:buSzPct val="70000"/>
                  <a:buFont typeface="Wingdings" pitchFamily="2" charset="2"/>
                  <a:buChar char="u"/>
                  <a:defRPr/>
                </a:pPr>
                <a:endParaRPr lang="zh-CN" altLang="en-US" b="1">
                  <a:solidFill>
                    <a:schemeClr val="bg1"/>
                  </a:solidFill>
                  <a:latin typeface="+mj-lt"/>
                  <a:ea typeface="微软雅黑" pitchFamily="34" charset="-122"/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59EEAFD4-90E7-4820-8225-50402E9B8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021" y="3813983"/>
                <a:ext cx="1250910" cy="3866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90500" h="38100"/>
              </a:sp3d>
            </p:spPr>
            <p:txBody>
              <a:bodyPr anchor="ctr">
                <a:spAutoFit/>
              </a:bodyPr>
              <a:lstStyle/>
              <a:p>
                <a:pPr algn="ctr" fontAlgn="ctr">
                  <a:buClr>
                    <a:srgbClr val="FF0000"/>
                  </a:buClr>
                  <a:buSzPct val="70000"/>
                  <a:defRPr/>
                </a:pPr>
                <a:r>
                  <a:rPr kumimoji="1" lang="en-US" altLang="zh-CN" b="1" dirty="0">
                    <a:solidFill>
                      <a:schemeClr val="bg1"/>
                    </a:solidFill>
                    <a:latin typeface="+mj-lt"/>
                    <a:ea typeface="微软雅黑" pitchFamily="34" charset="-122"/>
                  </a:rPr>
                  <a:t>The Objective </a:t>
                </a:r>
                <a:endParaRPr kumimoji="1" lang="zh-CN" altLang="en-US" b="1" dirty="0">
                  <a:solidFill>
                    <a:schemeClr val="bg1"/>
                  </a:solidFill>
                  <a:latin typeface="+mj-lt"/>
                  <a:ea typeface="微软雅黑" pitchFamily="34" charset="-122"/>
                </a:endParaRPr>
              </a:p>
            </p:txBody>
          </p:sp>
        </p:grpSp>
      </p:grpSp>
      <p:sp>
        <p:nvSpPr>
          <p:cNvPr id="38" name="Freeform 20">
            <a:extLst>
              <a:ext uri="{FF2B5EF4-FFF2-40B4-BE49-F238E27FC236}">
                <a16:creationId xmlns:a16="http://schemas.microsoft.com/office/drawing/2014/main" id="{50E53928-74CD-BC01-4BA2-B166BE5F6033}"/>
              </a:ext>
            </a:extLst>
          </p:cNvPr>
          <p:cNvSpPr>
            <a:spLocks noEditPoints="1"/>
          </p:cNvSpPr>
          <p:nvPr/>
        </p:nvSpPr>
        <p:spPr bwMode="auto">
          <a:xfrm>
            <a:off x="1858453" y="2817831"/>
            <a:ext cx="294217" cy="275167"/>
          </a:xfrm>
          <a:custGeom>
            <a:avLst/>
            <a:gdLst/>
            <a:ahLst/>
            <a:cxnLst>
              <a:cxn ang="0">
                <a:pos x="63" y="20"/>
              </a:cxn>
              <a:cxn ang="0">
                <a:pos x="53" y="54"/>
              </a:cxn>
              <a:cxn ang="0">
                <a:pos x="45" y="60"/>
              </a:cxn>
              <a:cxn ang="0">
                <a:pos x="10" y="60"/>
              </a:cxn>
              <a:cxn ang="0">
                <a:pos x="1" y="53"/>
              </a:cxn>
              <a:cxn ang="0">
                <a:pos x="1" y="48"/>
              </a:cxn>
              <a:cxn ang="0">
                <a:pos x="1" y="46"/>
              </a:cxn>
              <a:cxn ang="0">
                <a:pos x="1" y="44"/>
              </a:cxn>
              <a:cxn ang="0">
                <a:pos x="2" y="41"/>
              </a:cxn>
              <a:cxn ang="0">
                <a:pos x="5" y="34"/>
              </a:cxn>
              <a:cxn ang="0">
                <a:pos x="5" y="32"/>
              </a:cxn>
              <a:cxn ang="0">
                <a:pos x="7" y="30"/>
              </a:cxn>
              <a:cxn ang="0">
                <a:pos x="9" y="23"/>
              </a:cxn>
              <a:cxn ang="0">
                <a:pos x="9" y="21"/>
              </a:cxn>
              <a:cxn ang="0">
                <a:pos x="11" y="19"/>
              </a:cxn>
              <a:cxn ang="0">
                <a:pos x="13" y="12"/>
              </a:cxn>
              <a:cxn ang="0">
                <a:pos x="13" y="10"/>
              </a:cxn>
              <a:cxn ang="0">
                <a:pos x="15" y="8"/>
              </a:cxn>
              <a:cxn ang="0">
                <a:pos x="22" y="2"/>
              </a:cxn>
              <a:cxn ang="0">
                <a:pos x="22" y="2"/>
              </a:cxn>
              <a:cxn ang="0">
                <a:pos x="23" y="2"/>
              </a:cxn>
              <a:cxn ang="0">
                <a:pos x="52" y="2"/>
              </a:cxn>
              <a:cxn ang="0">
                <a:pos x="57" y="4"/>
              </a:cxn>
              <a:cxn ang="0">
                <a:pos x="57" y="9"/>
              </a:cxn>
              <a:cxn ang="0">
                <a:pos x="47" y="43"/>
              </a:cxn>
              <a:cxn ang="0">
                <a:pos x="39" y="50"/>
              </a:cxn>
              <a:cxn ang="0">
                <a:pos x="6" y="50"/>
              </a:cxn>
              <a:cxn ang="0">
                <a:pos x="5" y="51"/>
              </a:cxn>
              <a:cxn ang="0">
                <a:pos x="5" y="52"/>
              </a:cxn>
              <a:cxn ang="0">
                <a:pos x="10" y="55"/>
              </a:cxn>
              <a:cxn ang="0">
                <a:pos x="45" y="55"/>
              </a:cxn>
              <a:cxn ang="0">
                <a:pos x="49" y="53"/>
              </a:cxn>
              <a:cxn ang="0">
                <a:pos x="60" y="15"/>
              </a:cxn>
              <a:cxn ang="0">
                <a:pos x="60" y="13"/>
              </a:cxn>
              <a:cxn ang="0">
                <a:pos x="63" y="15"/>
              </a:cxn>
              <a:cxn ang="0">
                <a:pos x="63" y="20"/>
              </a:cxn>
              <a:cxn ang="0">
                <a:pos x="20" y="26"/>
              </a:cxn>
              <a:cxn ang="0">
                <a:pos x="43" y="26"/>
              </a:cxn>
              <a:cxn ang="0">
                <a:pos x="45" y="25"/>
              </a:cxn>
              <a:cxn ang="0">
                <a:pos x="45" y="22"/>
              </a:cxn>
              <a:cxn ang="0">
                <a:pos x="45" y="21"/>
              </a:cxn>
              <a:cxn ang="0">
                <a:pos x="22" y="21"/>
              </a:cxn>
              <a:cxn ang="0">
                <a:pos x="20" y="22"/>
              </a:cxn>
              <a:cxn ang="0">
                <a:pos x="19" y="25"/>
              </a:cxn>
              <a:cxn ang="0">
                <a:pos x="20" y="26"/>
              </a:cxn>
              <a:cxn ang="0">
                <a:pos x="23" y="16"/>
              </a:cxn>
              <a:cxn ang="0">
                <a:pos x="46" y="16"/>
              </a:cxn>
              <a:cxn ang="0">
                <a:pos x="48" y="15"/>
              </a:cxn>
              <a:cxn ang="0">
                <a:pos x="49" y="12"/>
              </a:cxn>
              <a:cxn ang="0">
                <a:pos x="48" y="11"/>
              </a:cxn>
              <a:cxn ang="0">
                <a:pos x="25" y="11"/>
              </a:cxn>
              <a:cxn ang="0">
                <a:pos x="23" y="12"/>
              </a:cxn>
              <a:cxn ang="0">
                <a:pos x="22" y="15"/>
              </a:cxn>
              <a:cxn ang="0">
                <a:pos x="23" y="16"/>
              </a:cxn>
            </a:cxnLst>
            <a:rect l="0" t="0" r="r" b="b"/>
            <a:pathLst>
              <a:path w="64" h="60">
                <a:moveTo>
                  <a:pt x="63" y="20"/>
                </a:moveTo>
                <a:cubicBezTo>
                  <a:pt x="53" y="54"/>
                  <a:pt x="53" y="54"/>
                  <a:pt x="53" y="54"/>
                </a:cubicBezTo>
                <a:cubicBezTo>
                  <a:pt x="52" y="57"/>
                  <a:pt x="49" y="60"/>
                  <a:pt x="45" y="60"/>
                </a:cubicBezTo>
                <a:cubicBezTo>
                  <a:pt x="10" y="60"/>
                  <a:pt x="10" y="60"/>
                  <a:pt x="10" y="60"/>
                </a:cubicBezTo>
                <a:cubicBezTo>
                  <a:pt x="6" y="60"/>
                  <a:pt x="2" y="57"/>
                  <a:pt x="1" y="53"/>
                </a:cubicBezTo>
                <a:cubicBezTo>
                  <a:pt x="0" y="51"/>
                  <a:pt x="0" y="49"/>
                  <a:pt x="1" y="48"/>
                </a:cubicBezTo>
                <a:cubicBezTo>
                  <a:pt x="1" y="47"/>
                  <a:pt x="1" y="46"/>
                  <a:pt x="1" y="46"/>
                </a:cubicBezTo>
                <a:cubicBezTo>
                  <a:pt x="1" y="45"/>
                  <a:pt x="1" y="44"/>
                  <a:pt x="1" y="44"/>
                </a:cubicBezTo>
                <a:cubicBezTo>
                  <a:pt x="1" y="43"/>
                  <a:pt x="2" y="42"/>
                  <a:pt x="2" y="41"/>
                </a:cubicBezTo>
                <a:cubicBezTo>
                  <a:pt x="4" y="40"/>
                  <a:pt x="5" y="36"/>
                  <a:pt x="5" y="34"/>
                </a:cubicBezTo>
                <a:cubicBezTo>
                  <a:pt x="5" y="34"/>
                  <a:pt x="5" y="33"/>
                  <a:pt x="5" y="32"/>
                </a:cubicBezTo>
                <a:cubicBezTo>
                  <a:pt x="5" y="32"/>
                  <a:pt x="6" y="31"/>
                  <a:pt x="7" y="30"/>
                </a:cubicBezTo>
                <a:cubicBezTo>
                  <a:pt x="8" y="29"/>
                  <a:pt x="9" y="25"/>
                  <a:pt x="9" y="23"/>
                </a:cubicBezTo>
                <a:cubicBezTo>
                  <a:pt x="9" y="23"/>
                  <a:pt x="9" y="22"/>
                  <a:pt x="9" y="21"/>
                </a:cubicBezTo>
                <a:cubicBezTo>
                  <a:pt x="9" y="20"/>
                  <a:pt x="10" y="20"/>
                  <a:pt x="11" y="19"/>
                </a:cubicBezTo>
                <a:cubicBezTo>
                  <a:pt x="12" y="18"/>
                  <a:pt x="13" y="14"/>
                  <a:pt x="13" y="12"/>
                </a:cubicBezTo>
                <a:cubicBezTo>
                  <a:pt x="13" y="12"/>
                  <a:pt x="13" y="11"/>
                  <a:pt x="13" y="10"/>
                </a:cubicBezTo>
                <a:cubicBezTo>
                  <a:pt x="13" y="10"/>
                  <a:pt x="14" y="9"/>
                  <a:pt x="15" y="8"/>
                </a:cubicBezTo>
                <a:cubicBezTo>
                  <a:pt x="16" y="6"/>
                  <a:pt x="17" y="0"/>
                  <a:pt x="22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2"/>
                  <a:pt x="23" y="2"/>
                  <a:pt x="23" y="2"/>
                </a:cubicBezTo>
                <a:cubicBezTo>
                  <a:pt x="52" y="2"/>
                  <a:pt x="52" y="2"/>
                  <a:pt x="52" y="2"/>
                </a:cubicBezTo>
                <a:cubicBezTo>
                  <a:pt x="54" y="2"/>
                  <a:pt x="56" y="2"/>
                  <a:pt x="57" y="4"/>
                </a:cubicBezTo>
                <a:cubicBezTo>
                  <a:pt x="58" y="5"/>
                  <a:pt x="58" y="7"/>
                  <a:pt x="57" y="9"/>
                </a:cubicBezTo>
                <a:cubicBezTo>
                  <a:pt x="47" y="43"/>
                  <a:pt x="47" y="43"/>
                  <a:pt x="47" y="43"/>
                </a:cubicBezTo>
                <a:cubicBezTo>
                  <a:pt x="45" y="49"/>
                  <a:pt x="44" y="50"/>
                  <a:pt x="39" y="50"/>
                </a:cubicBezTo>
                <a:cubicBezTo>
                  <a:pt x="6" y="50"/>
                  <a:pt x="6" y="50"/>
                  <a:pt x="6" y="50"/>
                </a:cubicBezTo>
                <a:cubicBezTo>
                  <a:pt x="6" y="50"/>
                  <a:pt x="5" y="50"/>
                  <a:pt x="5" y="51"/>
                </a:cubicBezTo>
                <a:cubicBezTo>
                  <a:pt x="5" y="51"/>
                  <a:pt x="5" y="52"/>
                  <a:pt x="5" y="52"/>
                </a:cubicBezTo>
                <a:cubicBezTo>
                  <a:pt x="6" y="55"/>
                  <a:pt x="8" y="55"/>
                  <a:pt x="10" y="55"/>
                </a:cubicBezTo>
                <a:cubicBezTo>
                  <a:pt x="45" y="55"/>
                  <a:pt x="45" y="55"/>
                  <a:pt x="45" y="55"/>
                </a:cubicBezTo>
                <a:cubicBezTo>
                  <a:pt x="47" y="55"/>
                  <a:pt x="48" y="54"/>
                  <a:pt x="49" y="53"/>
                </a:cubicBezTo>
                <a:cubicBezTo>
                  <a:pt x="60" y="15"/>
                  <a:pt x="60" y="15"/>
                  <a:pt x="60" y="15"/>
                </a:cubicBezTo>
                <a:cubicBezTo>
                  <a:pt x="60" y="15"/>
                  <a:pt x="60" y="14"/>
                  <a:pt x="60" y="13"/>
                </a:cubicBezTo>
                <a:cubicBezTo>
                  <a:pt x="61" y="14"/>
                  <a:pt x="62" y="14"/>
                  <a:pt x="63" y="15"/>
                </a:cubicBezTo>
                <a:cubicBezTo>
                  <a:pt x="64" y="16"/>
                  <a:pt x="64" y="18"/>
                  <a:pt x="63" y="20"/>
                </a:cubicBezTo>
                <a:close/>
                <a:moveTo>
                  <a:pt x="20" y="26"/>
                </a:moveTo>
                <a:cubicBezTo>
                  <a:pt x="43" y="26"/>
                  <a:pt x="43" y="26"/>
                  <a:pt x="43" y="26"/>
                </a:cubicBezTo>
                <a:cubicBezTo>
                  <a:pt x="44" y="26"/>
                  <a:pt x="44" y="25"/>
                  <a:pt x="45" y="25"/>
                </a:cubicBezTo>
                <a:cubicBezTo>
                  <a:pt x="45" y="22"/>
                  <a:pt x="45" y="22"/>
                  <a:pt x="45" y="22"/>
                </a:cubicBezTo>
                <a:cubicBezTo>
                  <a:pt x="46" y="22"/>
                  <a:pt x="45" y="21"/>
                  <a:pt x="45" y="21"/>
                </a:cubicBezTo>
                <a:cubicBezTo>
                  <a:pt x="22" y="21"/>
                  <a:pt x="22" y="21"/>
                  <a:pt x="22" y="21"/>
                </a:cubicBezTo>
                <a:cubicBezTo>
                  <a:pt x="21" y="21"/>
                  <a:pt x="20" y="22"/>
                  <a:pt x="20" y="22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5"/>
                  <a:pt x="19" y="26"/>
                  <a:pt x="20" y="26"/>
                </a:cubicBezTo>
                <a:close/>
                <a:moveTo>
                  <a:pt x="23" y="16"/>
                </a:moveTo>
                <a:cubicBezTo>
                  <a:pt x="46" y="16"/>
                  <a:pt x="46" y="16"/>
                  <a:pt x="46" y="16"/>
                </a:cubicBezTo>
                <a:cubicBezTo>
                  <a:pt x="47" y="16"/>
                  <a:pt x="48" y="16"/>
                  <a:pt x="48" y="15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8" y="11"/>
                  <a:pt x="48" y="11"/>
                </a:cubicBezTo>
                <a:cubicBezTo>
                  <a:pt x="25" y="11"/>
                  <a:pt x="25" y="11"/>
                  <a:pt x="25" y="11"/>
                </a:cubicBezTo>
                <a:cubicBezTo>
                  <a:pt x="24" y="11"/>
                  <a:pt x="23" y="12"/>
                  <a:pt x="23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2" y="16"/>
                  <a:pt x="22" y="16"/>
                  <a:pt x="23" y="1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9" name="Freeform 20">
            <a:extLst>
              <a:ext uri="{FF2B5EF4-FFF2-40B4-BE49-F238E27FC236}">
                <a16:creationId xmlns:a16="http://schemas.microsoft.com/office/drawing/2014/main" id="{0A52D4F4-827C-935E-7C8C-D19FA33F3E2C}"/>
              </a:ext>
            </a:extLst>
          </p:cNvPr>
          <p:cNvSpPr>
            <a:spLocks noEditPoints="1"/>
          </p:cNvSpPr>
          <p:nvPr/>
        </p:nvSpPr>
        <p:spPr bwMode="auto">
          <a:xfrm>
            <a:off x="7313906" y="2813978"/>
            <a:ext cx="294217" cy="275167"/>
          </a:xfrm>
          <a:custGeom>
            <a:avLst/>
            <a:gdLst/>
            <a:ahLst/>
            <a:cxnLst>
              <a:cxn ang="0">
                <a:pos x="63" y="20"/>
              </a:cxn>
              <a:cxn ang="0">
                <a:pos x="53" y="54"/>
              </a:cxn>
              <a:cxn ang="0">
                <a:pos x="45" y="60"/>
              </a:cxn>
              <a:cxn ang="0">
                <a:pos x="10" y="60"/>
              </a:cxn>
              <a:cxn ang="0">
                <a:pos x="1" y="53"/>
              </a:cxn>
              <a:cxn ang="0">
                <a:pos x="1" y="48"/>
              </a:cxn>
              <a:cxn ang="0">
                <a:pos x="1" y="46"/>
              </a:cxn>
              <a:cxn ang="0">
                <a:pos x="1" y="44"/>
              </a:cxn>
              <a:cxn ang="0">
                <a:pos x="2" y="41"/>
              </a:cxn>
              <a:cxn ang="0">
                <a:pos x="5" y="34"/>
              </a:cxn>
              <a:cxn ang="0">
                <a:pos x="5" y="32"/>
              </a:cxn>
              <a:cxn ang="0">
                <a:pos x="7" y="30"/>
              </a:cxn>
              <a:cxn ang="0">
                <a:pos x="9" y="23"/>
              </a:cxn>
              <a:cxn ang="0">
                <a:pos x="9" y="21"/>
              </a:cxn>
              <a:cxn ang="0">
                <a:pos x="11" y="19"/>
              </a:cxn>
              <a:cxn ang="0">
                <a:pos x="13" y="12"/>
              </a:cxn>
              <a:cxn ang="0">
                <a:pos x="13" y="10"/>
              </a:cxn>
              <a:cxn ang="0">
                <a:pos x="15" y="8"/>
              </a:cxn>
              <a:cxn ang="0">
                <a:pos x="22" y="2"/>
              </a:cxn>
              <a:cxn ang="0">
                <a:pos x="22" y="2"/>
              </a:cxn>
              <a:cxn ang="0">
                <a:pos x="23" y="2"/>
              </a:cxn>
              <a:cxn ang="0">
                <a:pos x="52" y="2"/>
              </a:cxn>
              <a:cxn ang="0">
                <a:pos x="57" y="4"/>
              </a:cxn>
              <a:cxn ang="0">
                <a:pos x="57" y="9"/>
              </a:cxn>
              <a:cxn ang="0">
                <a:pos x="47" y="43"/>
              </a:cxn>
              <a:cxn ang="0">
                <a:pos x="39" y="50"/>
              </a:cxn>
              <a:cxn ang="0">
                <a:pos x="6" y="50"/>
              </a:cxn>
              <a:cxn ang="0">
                <a:pos x="5" y="51"/>
              </a:cxn>
              <a:cxn ang="0">
                <a:pos x="5" y="52"/>
              </a:cxn>
              <a:cxn ang="0">
                <a:pos x="10" y="55"/>
              </a:cxn>
              <a:cxn ang="0">
                <a:pos x="45" y="55"/>
              </a:cxn>
              <a:cxn ang="0">
                <a:pos x="49" y="53"/>
              </a:cxn>
              <a:cxn ang="0">
                <a:pos x="60" y="15"/>
              </a:cxn>
              <a:cxn ang="0">
                <a:pos x="60" y="13"/>
              </a:cxn>
              <a:cxn ang="0">
                <a:pos x="63" y="15"/>
              </a:cxn>
              <a:cxn ang="0">
                <a:pos x="63" y="20"/>
              </a:cxn>
              <a:cxn ang="0">
                <a:pos x="20" y="26"/>
              </a:cxn>
              <a:cxn ang="0">
                <a:pos x="43" y="26"/>
              </a:cxn>
              <a:cxn ang="0">
                <a:pos x="45" y="25"/>
              </a:cxn>
              <a:cxn ang="0">
                <a:pos x="45" y="22"/>
              </a:cxn>
              <a:cxn ang="0">
                <a:pos x="45" y="21"/>
              </a:cxn>
              <a:cxn ang="0">
                <a:pos x="22" y="21"/>
              </a:cxn>
              <a:cxn ang="0">
                <a:pos x="20" y="22"/>
              </a:cxn>
              <a:cxn ang="0">
                <a:pos x="19" y="25"/>
              </a:cxn>
              <a:cxn ang="0">
                <a:pos x="20" y="26"/>
              </a:cxn>
              <a:cxn ang="0">
                <a:pos x="23" y="16"/>
              </a:cxn>
              <a:cxn ang="0">
                <a:pos x="46" y="16"/>
              </a:cxn>
              <a:cxn ang="0">
                <a:pos x="48" y="15"/>
              </a:cxn>
              <a:cxn ang="0">
                <a:pos x="49" y="12"/>
              </a:cxn>
              <a:cxn ang="0">
                <a:pos x="48" y="11"/>
              </a:cxn>
              <a:cxn ang="0">
                <a:pos x="25" y="11"/>
              </a:cxn>
              <a:cxn ang="0">
                <a:pos x="23" y="12"/>
              </a:cxn>
              <a:cxn ang="0">
                <a:pos x="22" y="15"/>
              </a:cxn>
              <a:cxn ang="0">
                <a:pos x="23" y="16"/>
              </a:cxn>
            </a:cxnLst>
            <a:rect l="0" t="0" r="r" b="b"/>
            <a:pathLst>
              <a:path w="64" h="60">
                <a:moveTo>
                  <a:pt x="63" y="20"/>
                </a:moveTo>
                <a:cubicBezTo>
                  <a:pt x="53" y="54"/>
                  <a:pt x="53" y="54"/>
                  <a:pt x="53" y="54"/>
                </a:cubicBezTo>
                <a:cubicBezTo>
                  <a:pt x="52" y="57"/>
                  <a:pt x="49" y="60"/>
                  <a:pt x="45" y="60"/>
                </a:cubicBezTo>
                <a:cubicBezTo>
                  <a:pt x="10" y="60"/>
                  <a:pt x="10" y="60"/>
                  <a:pt x="10" y="60"/>
                </a:cubicBezTo>
                <a:cubicBezTo>
                  <a:pt x="6" y="60"/>
                  <a:pt x="2" y="57"/>
                  <a:pt x="1" y="53"/>
                </a:cubicBezTo>
                <a:cubicBezTo>
                  <a:pt x="0" y="51"/>
                  <a:pt x="0" y="49"/>
                  <a:pt x="1" y="48"/>
                </a:cubicBezTo>
                <a:cubicBezTo>
                  <a:pt x="1" y="47"/>
                  <a:pt x="1" y="46"/>
                  <a:pt x="1" y="46"/>
                </a:cubicBezTo>
                <a:cubicBezTo>
                  <a:pt x="1" y="45"/>
                  <a:pt x="1" y="44"/>
                  <a:pt x="1" y="44"/>
                </a:cubicBezTo>
                <a:cubicBezTo>
                  <a:pt x="1" y="43"/>
                  <a:pt x="2" y="42"/>
                  <a:pt x="2" y="41"/>
                </a:cubicBezTo>
                <a:cubicBezTo>
                  <a:pt x="4" y="40"/>
                  <a:pt x="5" y="36"/>
                  <a:pt x="5" y="34"/>
                </a:cubicBezTo>
                <a:cubicBezTo>
                  <a:pt x="5" y="34"/>
                  <a:pt x="5" y="33"/>
                  <a:pt x="5" y="32"/>
                </a:cubicBezTo>
                <a:cubicBezTo>
                  <a:pt x="5" y="32"/>
                  <a:pt x="6" y="31"/>
                  <a:pt x="7" y="30"/>
                </a:cubicBezTo>
                <a:cubicBezTo>
                  <a:pt x="8" y="29"/>
                  <a:pt x="9" y="25"/>
                  <a:pt x="9" y="23"/>
                </a:cubicBezTo>
                <a:cubicBezTo>
                  <a:pt x="9" y="23"/>
                  <a:pt x="9" y="22"/>
                  <a:pt x="9" y="21"/>
                </a:cubicBezTo>
                <a:cubicBezTo>
                  <a:pt x="9" y="20"/>
                  <a:pt x="10" y="20"/>
                  <a:pt x="11" y="19"/>
                </a:cubicBezTo>
                <a:cubicBezTo>
                  <a:pt x="12" y="18"/>
                  <a:pt x="13" y="14"/>
                  <a:pt x="13" y="12"/>
                </a:cubicBezTo>
                <a:cubicBezTo>
                  <a:pt x="13" y="12"/>
                  <a:pt x="13" y="11"/>
                  <a:pt x="13" y="10"/>
                </a:cubicBezTo>
                <a:cubicBezTo>
                  <a:pt x="13" y="10"/>
                  <a:pt x="14" y="9"/>
                  <a:pt x="15" y="8"/>
                </a:cubicBezTo>
                <a:cubicBezTo>
                  <a:pt x="16" y="6"/>
                  <a:pt x="17" y="0"/>
                  <a:pt x="22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2"/>
                  <a:pt x="23" y="2"/>
                  <a:pt x="23" y="2"/>
                </a:cubicBezTo>
                <a:cubicBezTo>
                  <a:pt x="52" y="2"/>
                  <a:pt x="52" y="2"/>
                  <a:pt x="52" y="2"/>
                </a:cubicBezTo>
                <a:cubicBezTo>
                  <a:pt x="54" y="2"/>
                  <a:pt x="56" y="2"/>
                  <a:pt x="57" y="4"/>
                </a:cubicBezTo>
                <a:cubicBezTo>
                  <a:pt x="58" y="5"/>
                  <a:pt x="58" y="7"/>
                  <a:pt x="57" y="9"/>
                </a:cubicBezTo>
                <a:cubicBezTo>
                  <a:pt x="47" y="43"/>
                  <a:pt x="47" y="43"/>
                  <a:pt x="47" y="43"/>
                </a:cubicBezTo>
                <a:cubicBezTo>
                  <a:pt x="45" y="49"/>
                  <a:pt x="44" y="50"/>
                  <a:pt x="39" y="50"/>
                </a:cubicBezTo>
                <a:cubicBezTo>
                  <a:pt x="6" y="50"/>
                  <a:pt x="6" y="50"/>
                  <a:pt x="6" y="50"/>
                </a:cubicBezTo>
                <a:cubicBezTo>
                  <a:pt x="6" y="50"/>
                  <a:pt x="5" y="50"/>
                  <a:pt x="5" y="51"/>
                </a:cubicBezTo>
                <a:cubicBezTo>
                  <a:pt x="5" y="51"/>
                  <a:pt x="5" y="52"/>
                  <a:pt x="5" y="52"/>
                </a:cubicBezTo>
                <a:cubicBezTo>
                  <a:pt x="6" y="55"/>
                  <a:pt x="8" y="55"/>
                  <a:pt x="10" y="55"/>
                </a:cubicBezTo>
                <a:cubicBezTo>
                  <a:pt x="45" y="55"/>
                  <a:pt x="45" y="55"/>
                  <a:pt x="45" y="55"/>
                </a:cubicBezTo>
                <a:cubicBezTo>
                  <a:pt x="47" y="55"/>
                  <a:pt x="48" y="54"/>
                  <a:pt x="49" y="53"/>
                </a:cubicBezTo>
                <a:cubicBezTo>
                  <a:pt x="60" y="15"/>
                  <a:pt x="60" y="15"/>
                  <a:pt x="60" y="15"/>
                </a:cubicBezTo>
                <a:cubicBezTo>
                  <a:pt x="60" y="15"/>
                  <a:pt x="60" y="14"/>
                  <a:pt x="60" y="13"/>
                </a:cubicBezTo>
                <a:cubicBezTo>
                  <a:pt x="61" y="14"/>
                  <a:pt x="62" y="14"/>
                  <a:pt x="63" y="15"/>
                </a:cubicBezTo>
                <a:cubicBezTo>
                  <a:pt x="64" y="16"/>
                  <a:pt x="64" y="18"/>
                  <a:pt x="63" y="20"/>
                </a:cubicBezTo>
                <a:close/>
                <a:moveTo>
                  <a:pt x="20" y="26"/>
                </a:moveTo>
                <a:cubicBezTo>
                  <a:pt x="43" y="26"/>
                  <a:pt x="43" y="26"/>
                  <a:pt x="43" y="26"/>
                </a:cubicBezTo>
                <a:cubicBezTo>
                  <a:pt x="44" y="26"/>
                  <a:pt x="44" y="25"/>
                  <a:pt x="45" y="25"/>
                </a:cubicBezTo>
                <a:cubicBezTo>
                  <a:pt x="45" y="22"/>
                  <a:pt x="45" y="22"/>
                  <a:pt x="45" y="22"/>
                </a:cubicBezTo>
                <a:cubicBezTo>
                  <a:pt x="46" y="22"/>
                  <a:pt x="45" y="21"/>
                  <a:pt x="45" y="21"/>
                </a:cubicBezTo>
                <a:cubicBezTo>
                  <a:pt x="22" y="21"/>
                  <a:pt x="22" y="21"/>
                  <a:pt x="22" y="21"/>
                </a:cubicBezTo>
                <a:cubicBezTo>
                  <a:pt x="21" y="21"/>
                  <a:pt x="20" y="22"/>
                  <a:pt x="20" y="22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5"/>
                  <a:pt x="19" y="26"/>
                  <a:pt x="20" y="26"/>
                </a:cubicBezTo>
                <a:close/>
                <a:moveTo>
                  <a:pt x="23" y="16"/>
                </a:moveTo>
                <a:cubicBezTo>
                  <a:pt x="46" y="16"/>
                  <a:pt x="46" y="16"/>
                  <a:pt x="46" y="16"/>
                </a:cubicBezTo>
                <a:cubicBezTo>
                  <a:pt x="47" y="16"/>
                  <a:pt x="48" y="16"/>
                  <a:pt x="48" y="15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8" y="11"/>
                  <a:pt x="48" y="11"/>
                </a:cubicBezTo>
                <a:cubicBezTo>
                  <a:pt x="25" y="11"/>
                  <a:pt x="25" y="11"/>
                  <a:pt x="25" y="11"/>
                </a:cubicBezTo>
                <a:cubicBezTo>
                  <a:pt x="24" y="11"/>
                  <a:pt x="23" y="12"/>
                  <a:pt x="23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2" y="16"/>
                  <a:pt x="22" y="16"/>
                  <a:pt x="23" y="1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666DF89-AFDB-FAB3-EB4A-38576A53342A}"/>
              </a:ext>
            </a:extLst>
          </p:cNvPr>
          <p:cNvGrpSpPr/>
          <p:nvPr/>
        </p:nvGrpSpPr>
        <p:grpSpPr>
          <a:xfrm>
            <a:off x="145367" y="962487"/>
            <a:ext cx="5513695" cy="2744978"/>
            <a:chOff x="7981974" y="2597260"/>
            <a:chExt cx="3703963" cy="3393363"/>
          </a:xfrm>
        </p:grpSpPr>
        <p:sp>
          <p:nvSpPr>
            <p:cNvPr id="73" name="矩形 12">
              <a:extLst>
                <a:ext uri="{FF2B5EF4-FFF2-40B4-BE49-F238E27FC236}">
                  <a16:creationId xmlns:a16="http://schemas.microsoft.com/office/drawing/2014/main" id="{5894ABB5-1805-766E-B513-CB245F8521BA}"/>
                </a:ext>
              </a:extLst>
            </p:cNvPr>
            <p:cNvSpPr/>
            <p:nvPr/>
          </p:nvSpPr>
          <p:spPr>
            <a:xfrm>
              <a:off x="7981974" y="2597260"/>
              <a:ext cx="3703963" cy="3393363"/>
            </a:xfrm>
            <a:prstGeom prst="rect">
              <a:avLst/>
            </a:prstGeom>
            <a:noFill/>
            <a:ln>
              <a:solidFill>
                <a:srgbClr val="113F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72" tIns="45736" rIns="91472" bIns="45736" rtlCol="0" anchor="ctr"/>
            <a:lstStyle/>
            <a:p>
              <a:pPr algn="ctr"/>
              <a:endParaRPr lang="zh-CN" altLang="en-US" dirty="0">
                <a:latin typeface="+mj-lt"/>
                <a:ea typeface="微软雅黑" panose="020B0503020204020204" pitchFamily="34" charset="-122"/>
              </a:endParaRPr>
            </a:p>
          </p:txBody>
        </p:sp>
        <p:sp>
          <p:nvSpPr>
            <p:cNvPr id="74" name="TextBox 22">
              <a:extLst>
                <a:ext uri="{FF2B5EF4-FFF2-40B4-BE49-F238E27FC236}">
                  <a16:creationId xmlns:a16="http://schemas.microsoft.com/office/drawing/2014/main" id="{EF813526-90AE-781E-1DED-4A631959F708}"/>
                </a:ext>
              </a:extLst>
            </p:cNvPr>
            <p:cNvSpPr txBox="1"/>
            <p:nvPr/>
          </p:nvSpPr>
          <p:spPr>
            <a:xfrm>
              <a:off x="8056974" y="2803365"/>
              <a:ext cx="3559853" cy="3182324"/>
            </a:xfrm>
            <a:prstGeom prst="rect">
              <a:avLst/>
            </a:prstGeom>
            <a:noFill/>
          </p:spPr>
          <p:txBody>
            <a:bodyPr wrap="square" lIns="91472" tIns="45736" rIns="91472" bIns="45736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b="1" dirty="0"/>
                <a:t>ASSUMPTIONS</a:t>
              </a: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Sub-counties in the Census dataset were assumed to be similar to the constituencies in Education Facilities Dataset</a:t>
              </a: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dirty="0"/>
                <a:t>It was assumed that the higher the general population per area also the higher the student population in the area.</a:t>
              </a:r>
            </a:p>
          </p:txBody>
        </p:sp>
      </p:grpSp>
      <p:sp>
        <p:nvSpPr>
          <p:cNvPr id="94" name="Freeform 5">
            <a:extLst>
              <a:ext uri="{FF2B5EF4-FFF2-40B4-BE49-F238E27FC236}">
                <a16:creationId xmlns:a16="http://schemas.microsoft.com/office/drawing/2014/main" id="{12F55760-2D82-CCB0-C328-BAF7D5597F18}"/>
              </a:ext>
            </a:extLst>
          </p:cNvPr>
          <p:cNvSpPr>
            <a:spLocks/>
          </p:cNvSpPr>
          <p:nvPr/>
        </p:nvSpPr>
        <p:spPr bwMode="auto">
          <a:xfrm rot="455140">
            <a:off x="3159761" y="4365905"/>
            <a:ext cx="1879599" cy="1883833"/>
          </a:xfrm>
          <a:custGeom>
            <a:avLst/>
            <a:gdLst>
              <a:gd name="T0" fmla="*/ 372 w 372"/>
              <a:gd name="T1" fmla="*/ 0 h 374"/>
              <a:gd name="T2" fmla="*/ 372 w 372"/>
              <a:gd name="T3" fmla="*/ 76 h 374"/>
              <a:gd name="T4" fmla="*/ 144 w 372"/>
              <a:gd name="T5" fmla="*/ 366 h 374"/>
              <a:gd name="T6" fmla="*/ 75 w 372"/>
              <a:gd name="T7" fmla="*/ 374 h 374"/>
              <a:gd name="T8" fmla="*/ 372 w 372"/>
              <a:gd name="T9" fmla="*/ 0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2" h="374">
                <a:moveTo>
                  <a:pt x="372" y="0"/>
                </a:moveTo>
                <a:cubicBezTo>
                  <a:pt x="372" y="76"/>
                  <a:pt x="372" y="76"/>
                  <a:pt x="372" y="76"/>
                </a:cubicBezTo>
                <a:cubicBezTo>
                  <a:pt x="372" y="76"/>
                  <a:pt x="104" y="34"/>
                  <a:pt x="144" y="366"/>
                </a:cubicBezTo>
                <a:cubicBezTo>
                  <a:pt x="75" y="374"/>
                  <a:pt x="75" y="374"/>
                  <a:pt x="75" y="374"/>
                </a:cubicBezTo>
                <a:cubicBezTo>
                  <a:pt x="75" y="374"/>
                  <a:pt x="0" y="0"/>
                  <a:pt x="3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5" name="Freeform 5">
            <a:extLst>
              <a:ext uri="{FF2B5EF4-FFF2-40B4-BE49-F238E27FC236}">
                <a16:creationId xmlns:a16="http://schemas.microsoft.com/office/drawing/2014/main" id="{92D922F4-FBB0-7DAF-7C7A-725865BFF220}"/>
              </a:ext>
            </a:extLst>
          </p:cNvPr>
          <p:cNvSpPr>
            <a:spLocks/>
          </p:cNvSpPr>
          <p:nvPr/>
        </p:nvSpPr>
        <p:spPr bwMode="auto">
          <a:xfrm rot="20679859" flipH="1">
            <a:off x="1779768" y="4576131"/>
            <a:ext cx="1879599" cy="1883833"/>
          </a:xfrm>
          <a:custGeom>
            <a:avLst/>
            <a:gdLst>
              <a:gd name="T0" fmla="*/ 372 w 372"/>
              <a:gd name="T1" fmla="*/ 0 h 374"/>
              <a:gd name="T2" fmla="*/ 372 w 372"/>
              <a:gd name="T3" fmla="*/ 76 h 374"/>
              <a:gd name="T4" fmla="*/ 144 w 372"/>
              <a:gd name="T5" fmla="*/ 366 h 374"/>
              <a:gd name="T6" fmla="*/ 75 w 372"/>
              <a:gd name="T7" fmla="*/ 374 h 374"/>
              <a:gd name="T8" fmla="*/ 372 w 372"/>
              <a:gd name="T9" fmla="*/ 0 h 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2" h="374">
                <a:moveTo>
                  <a:pt x="372" y="0"/>
                </a:moveTo>
                <a:cubicBezTo>
                  <a:pt x="372" y="76"/>
                  <a:pt x="372" y="76"/>
                  <a:pt x="372" y="76"/>
                </a:cubicBezTo>
                <a:cubicBezTo>
                  <a:pt x="372" y="76"/>
                  <a:pt x="104" y="34"/>
                  <a:pt x="144" y="366"/>
                </a:cubicBezTo>
                <a:cubicBezTo>
                  <a:pt x="75" y="374"/>
                  <a:pt x="75" y="374"/>
                  <a:pt x="75" y="374"/>
                </a:cubicBezTo>
                <a:cubicBezTo>
                  <a:pt x="75" y="374"/>
                  <a:pt x="0" y="0"/>
                  <a:pt x="3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96" name="Group 26">
            <a:extLst>
              <a:ext uri="{FF2B5EF4-FFF2-40B4-BE49-F238E27FC236}">
                <a16:creationId xmlns:a16="http://schemas.microsoft.com/office/drawing/2014/main" id="{918B4F6B-80B9-CC7D-42AC-11AD99916E76}"/>
              </a:ext>
            </a:extLst>
          </p:cNvPr>
          <p:cNvGrpSpPr/>
          <p:nvPr/>
        </p:nvGrpSpPr>
        <p:grpSpPr>
          <a:xfrm>
            <a:off x="2378464" y="5427422"/>
            <a:ext cx="1896256" cy="1318944"/>
            <a:chOff x="3740150" y="2705895"/>
            <a:chExt cx="1663701" cy="1390653"/>
          </a:xfrm>
          <a:solidFill>
            <a:srgbClr val="113F4E"/>
          </a:solidFill>
        </p:grpSpPr>
        <p:sp>
          <p:nvSpPr>
            <p:cNvPr id="97" name="Freeform 15">
              <a:extLst>
                <a:ext uri="{FF2B5EF4-FFF2-40B4-BE49-F238E27FC236}">
                  <a16:creationId xmlns:a16="http://schemas.microsoft.com/office/drawing/2014/main" id="{1C12C6C7-B4F1-4373-49A6-8F33577707F3}"/>
                </a:ext>
              </a:extLst>
            </p:cNvPr>
            <p:cNvSpPr/>
            <p:nvPr/>
          </p:nvSpPr>
          <p:spPr>
            <a:xfrm rot="16200000" flipV="1">
              <a:off x="4292600" y="2985296"/>
              <a:ext cx="1390652" cy="831851"/>
            </a:xfrm>
            <a:custGeom>
              <a:avLst/>
              <a:gdLst>
                <a:gd name="connsiteX0" fmla="*/ 1390652 w 1390652"/>
                <a:gd name="connsiteY0" fmla="*/ 1 h 831851"/>
                <a:gd name="connsiteX1" fmla="*/ 1390650 w 1390652"/>
                <a:gd name="connsiteY1" fmla="*/ 1 h 831851"/>
                <a:gd name="connsiteX2" fmla="*/ 1390651 w 1390652"/>
                <a:gd name="connsiteY2" fmla="*/ 0 h 831851"/>
                <a:gd name="connsiteX3" fmla="*/ 328498 w 1390652"/>
                <a:gd name="connsiteY3" fmla="*/ 0 h 831851"/>
                <a:gd name="connsiteX4" fmla="*/ 0 w 1390652"/>
                <a:gd name="connsiteY4" fmla="*/ 831851 h 831851"/>
                <a:gd name="connsiteX5" fmla="*/ 336551 w 1390652"/>
                <a:gd name="connsiteY5" fmla="*/ 831851 h 831851"/>
                <a:gd name="connsiteX6" fmla="*/ 336551 w 1390652"/>
                <a:gd name="connsiteY6" fmla="*/ 831851 h 831851"/>
                <a:gd name="connsiteX7" fmla="*/ 1208202 w 1390652"/>
                <a:gd name="connsiteY7" fmla="*/ 831851 h 831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90652" h="831851">
                  <a:moveTo>
                    <a:pt x="1390652" y="1"/>
                  </a:moveTo>
                  <a:lnTo>
                    <a:pt x="1390650" y="1"/>
                  </a:lnTo>
                  <a:lnTo>
                    <a:pt x="1390651" y="0"/>
                  </a:lnTo>
                  <a:lnTo>
                    <a:pt x="328498" y="0"/>
                  </a:lnTo>
                  <a:lnTo>
                    <a:pt x="0" y="831851"/>
                  </a:lnTo>
                  <a:lnTo>
                    <a:pt x="336551" y="831851"/>
                  </a:lnTo>
                  <a:lnTo>
                    <a:pt x="336551" y="831851"/>
                  </a:lnTo>
                  <a:lnTo>
                    <a:pt x="1208202" y="831851"/>
                  </a:lnTo>
                  <a:close/>
                </a:path>
              </a:pathLst>
            </a:cu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8" name="Freeform 16">
              <a:extLst>
                <a:ext uri="{FF2B5EF4-FFF2-40B4-BE49-F238E27FC236}">
                  <a16:creationId xmlns:a16="http://schemas.microsoft.com/office/drawing/2014/main" id="{6EBA9E4F-829F-7007-F49E-AF06AE942C50}"/>
                </a:ext>
              </a:extLst>
            </p:cNvPr>
            <p:cNvSpPr/>
            <p:nvPr/>
          </p:nvSpPr>
          <p:spPr>
            <a:xfrm rot="5400000" flipH="1" flipV="1">
              <a:off x="3460750" y="2985295"/>
              <a:ext cx="1390652" cy="831851"/>
            </a:xfrm>
            <a:custGeom>
              <a:avLst/>
              <a:gdLst>
                <a:gd name="connsiteX0" fmla="*/ 1390652 w 1390652"/>
                <a:gd name="connsiteY0" fmla="*/ 1 h 831851"/>
                <a:gd name="connsiteX1" fmla="*/ 1208202 w 1390652"/>
                <a:gd name="connsiteY1" fmla="*/ 831851 h 831851"/>
                <a:gd name="connsiteX2" fmla="*/ 336551 w 1390652"/>
                <a:gd name="connsiteY2" fmla="*/ 831851 h 831851"/>
                <a:gd name="connsiteX3" fmla="*/ 336551 w 1390652"/>
                <a:gd name="connsiteY3" fmla="*/ 831851 h 831851"/>
                <a:gd name="connsiteX4" fmla="*/ 0 w 1390652"/>
                <a:gd name="connsiteY4" fmla="*/ 831851 h 831851"/>
                <a:gd name="connsiteX5" fmla="*/ 328498 w 1390652"/>
                <a:gd name="connsiteY5" fmla="*/ 0 h 831851"/>
                <a:gd name="connsiteX6" fmla="*/ 1390651 w 1390652"/>
                <a:gd name="connsiteY6" fmla="*/ 0 h 831851"/>
                <a:gd name="connsiteX7" fmla="*/ 1390650 w 1390652"/>
                <a:gd name="connsiteY7" fmla="*/ 1 h 831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90652" h="831851">
                  <a:moveTo>
                    <a:pt x="1390652" y="1"/>
                  </a:moveTo>
                  <a:lnTo>
                    <a:pt x="1208202" y="831851"/>
                  </a:lnTo>
                  <a:lnTo>
                    <a:pt x="336551" y="831851"/>
                  </a:lnTo>
                  <a:lnTo>
                    <a:pt x="336551" y="831851"/>
                  </a:lnTo>
                  <a:lnTo>
                    <a:pt x="0" y="831851"/>
                  </a:lnTo>
                  <a:lnTo>
                    <a:pt x="328498" y="0"/>
                  </a:lnTo>
                  <a:lnTo>
                    <a:pt x="1390651" y="0"/>
                  </a:lnTo>
                  <a:lnTo>
                    <a:pt x="1390650" y="1"/>
                  </a:lnTo>
                  <a:close/>
                </a:path>
              </a:pathLst>
            </a:cu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99" name="Group 41">
            <a:extLst>
              <a:ext uri="{FF2B5EF4-FFF2-40B4-BE49-F238E27FC236}">
                <a16:creationId xmlns:a16="http://schemas.microsoft.com/office/drawing/2014/main" id="{D1858DD0-5345-9CC7-A7EE-054BF5BC8B43}"/>
              </a:ext>
            </a:extLst>
          </p:cNvPr>
          <p:cNvGrpSpPr/>
          <p:nvPr/>
        </p:nvGrpSpPr>
        <p:grpSpPr>
          <a:xfrm>
            <a:off x="4887974" y="4333255"/>
            <a:ext cx="605909" cy="605909"/>
            <a:chOff x="762000" y="2017897"/>
            <a:chExt cx="484356" cy="484356"/>
          </a:xfrm>
          <a:solidFill>
            <a:srgbClr val="113F4E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sp>
          <p:nvSpPr>
            <p:cNvPr id="100" name="Oval 42">
              <a:extLst>
                <a:ext uri="{FF2B5EF4-FFF2-40B4-BE49-F238E27FC236}">
                  <a16:creationId xmlns:a16="http://schemas.microsoft.com/office/drawing/2014/main" id="{8964B3E0-6A06-2E10-48F3-CC8A0D85D806}"/>
                </a:ext>
              </a:extLst>
            </p:cNvPr>
            <p:cNvSpPr/>
            <p:nvPr/>
          </p:nvSpPr>
          <p:spPr>
            <a:xfrm>
              <a:off x="762000" y="2017897"/>
              <a:ext cx="484356" cy="484356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01" name="Oval 43">
              <a:extLst>
                <a:ext uri="{FF2B5EF4-FFF2-40B4-BE49-F238E27FC236}">
                  <a16:creationId xmlns:a16="http://schemas.microsoft.com/office/drawing/2014/main" id="{41260F96-FE4B-194F-9A19-4C213D3D1AB7}"/>
                </a:ext>
              </a:extLst>
            </p:cNvPr>
            <p:cNvSpPr/>
            <p:nvPr/>
          </p:nvSpPr>
          <p:spPr>
            <a:xfrm>
              <a:off x="780410" y="2036307"/>
              <a:ext cx="447539" cy="447539"/>
            </a:xfrm>
            <a:prstGeom prst="ellipse">
              <a:avLst/>
            </a:prstGeom>
            <a:grpFill/>
            <a:ln w="952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05" name="Group 47">
            <a:extLst>
              <a:ext uri="{FF2B5EF4-FFF2-40B4-BE49-F238E27FC236}">
                <a16:creationId xmlns:a16="http://schemas.microsoft.com/office/drawing/2014/main" id="{7524DEAA-D58A-476A-0259-6FCABE3116DD}"/>
              </a:ext>
            </a:extLst>
          </p:cNvPr>
          <p:cNvGrpSpPr/>
          <p:nvPr/>
        </p:nvGrpSpPr>
        <p:grpSpPr>
          <a:xfrm>
            <a:off x="1200167" y="4764627"/>
            <a:ext cx="605909" cy="605909"/>
            <a:chOff x="762000" y="2017897"/>
            <a:chExt cx="484356" cy="484356"/>
          </a:xfrm>
          <a:solidFill>
            <a:srgbClr val="113F4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6" name="Oval 48">
              <a:extLst>
                <a:ext uri="{FF2B5EF4-FFF2-40B4-BE49-F238E27FC236}">
                  <a16:creationId xmlns:a16="http://schemas.microsoft.com/office/drawing/2014/main" id="{7F8CC197-0860-5421-0260-3C9C300BC260}"/>
                </a:ext>
              </a:extLst>
            </p:cNvPr>
            <p:cNvSpPr/>
            <p:nvPr/>
          </p:nvSpPr>
          <p:spPr>
            <a:xfrm>
              <a:off x="762000" y="2017897"/>
              <a:ext cx="484356" cy="484356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07" name="Oval 49">
              <a:extLst>
                <a:ext uri="{FF2B5EF4-FFF2-40B4-BE49-F238E27FC236}">
                  <a16:creationId xmlns:a16="http://schemas.microsoft.com/office/drawing/2014/main" id="{C8163435-D184-CF2B-F7D2-1279756C02CC}"/>
                </a:ext>
              </a:extLst>
            </p:cNvPr>
            <p:cNvSpPr/>
            <p:nvPr/>
          </p:nvSpPr>
          <p:spPr>
            <a:xfrm>
              <a:off x="780410" y="2036307"/>
              <a:ext cx="447539" cy="447539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08" name="Freeform 20">
            <a:extLst>
              <a:ext uri="{FF2B5EF4-FFF2-40B4-BE49-F238E27FC236}">
                <a16:creationId xmlns:a16="http://schemas.microsoft.com/office/drawing/2014/main" id="{B78A654C-4FB3-49E6-4DFB-989FE0017FE7}"/>
              </a:ext>
            </a:extLst>
          </p:cNvPr>
          <p:cNvSpPr>
            <a:spLocks noEditPoints="1"/>
          </p:cNvSpPr>
          <p:nvPr/>
        </p:nvSpPr>
        <p:spPr bwMode="auto">
          <a:xfrm>
            <a:off x="1339575" y="4926391"/>
            <a:ext cx="294217" cy="275167"/>
          </a:xfrm>
          <a:custGeom>
            <a:avLst/>
            <a:gdLst/>
            <a:ahLst/>
            <a:cxnLst>
              <a:cxn ang="0">
                <a:pos x="63" y="20"/>
              </a:cxn>
              <a:cxn ang="0">
                <a:pos x="53" y="54"/>
              </a:cxn>
              <a:cxn ang="0">
                <a:pos x="45" y="60"/>
              </a:cxn>
              <a:cxn ang="0">
                <a:pos x="10" y="60"/>
              </a:cxn>
              <a:cxn ang="0">
                <a:pos x="1" y="53"/>
              </a:cxn>
              <a:cxn ang="0">
                <a:pos x="1" y="48"/>
              </a:cxn>
              <a:cxn ang="0">
                <a:pos x="1" y="46"/>
              </a:cxn>
              <a:cxn ang="0">
                <a:pos x="1" y="44"/>
              </a:cxn>
              <a:cxn ang="0">
                <a:pos x="2" y="41"/>
              </a:cxn>
              <a:cxn ang="0">
                <a:pos x="5" y="34"/>
              </a:cxn>
              <a:cxn ang="0">
                <a:pos x="5" y="32"/>
              </a:cxn>
              <a:cxn ang="0">
                <a:pos x="7" y="30"/>
              </a:cxn>
              <a:cxn ang="0">
                <a:pos x="9" y="23"/>
              </a:cxn>
              <a:cxn ang="0">
                <a:pos x="9" y="21"/>
              </a:cxn>
              <a:cxn ang="0">
                <a:pos x="11" y="19"/>
              </a:cxn>
              <a:cxn ang="0">
                <a:pos x="13" y="12"/>
              </a:cxn>
              <a:cxn ang="0">
                <a:pos x="13" y="10"/>
              </a:cxn>
              <a:cxn ang="0">
                <a:pos x="15" y="8"/>
              </a:cxn>
              <a:cxn ang="0">
                <a:pos x="22" y="2"/>
              </a:cxn>
              <a:cxn ang="0">
                <a:pos x="22" y="2"/>
              </a:cxn>
              <a:cxn ang="0">
                <a:pos x="23" y="2"/>
              </a:cxn>
              <a:cxn ang="0">
                <a:pos x="52" y="2"/>
              </a:cxn>
              <a:cxn ang="0">
                <a:pos x="57" y="4"/>
              </a:cxn>
              <a:cxn ang="0">
                <a:pos x="57" y="9"/>
              </a:cxn>
              <a:cxn ang="0">
                <a:pos x="47" y="43"/>
              </a:cxn>
              <a:cxn ang="0">
                <a:pos x="39" y="50"/>
              </a:cxn>
              <a:cxn ang="0">
                <a:pos x="6" y="50"/>
              </a:cxn>
              <a:cxn ang="0">
                <a:pos x="5" y="51"/>
              </a:cxn>
              <a:cxn ang="0">
                <a:pos x="5" y="52"/>
              </a:cxn>
              <a:cxn ang="0">
                <a:pos x="10" y="55"/>
              </a:cxn>
              <a:cxn ang="0">
                <a:pos x="45" y="55"/>
              </a:cxn>
              <a:cxn ang="0">
                <a:pos x="49" y="53"/>
              </a:cxn>
              <a:cxn ang="0">
                <a:pos x="60" y="15"/>
              </a:cxn>
              <a:cxn ang="0">
                <a:pos x="60" y="13"/>
              </a:cxn>
              <a:cxn ang="0">
                <a:pos x="63" y="15"/>
              </a:cxn>
              <a:cxn ang="0">
                <a:pos x="63" y="20"/>
              </a:cxn>
              <a:cxn ang="0">
                <a:pos x="20" y="26"/>
              </a:cxn>
              <a:cxn ang="0">
                <a:pos x="43" y="26"/>
              </a:cxn>
              <a:cxn ang="0">
                <a:pos x="45" y="25"/>
              </a:cxn>
              <a:cxn ang="0">
                <a:pos x="45" y="22"/>
              </a:cxn>
              <a:cxn ang="0">
                <a:pos x="45" y="21"/>
              </a:cxn>
              <a:cxn ang="0">
                <a:pos x="22" y="21"/>
              </a:cxn>
              <a:cxn ang="0">
                <a:pos x="20" y="22"/>
              </a:cxn>
              <a:cxn ang="0">
                <a:pos x="19" y="25"/>
              </a:cxn>
              <a:cxn ang="0">
                <a:pos x="20" y="26"/>
              </a:cxn>
              <a:cxn ang="0">
                <a:pos x="23" y="16"/>
              </a:cxn>
              <a:cxn ang="0">
                <a:pos x="46" y="16"/>
              </a:cxn>
              <a:cxn ang="0">
                <a:pos x="48" y="15"/>
              </a:cxn>
              <a:cxn ang="0">
                <a:pos x="49" y="12"/>
              </a:cxn>
              <a:cxn ang="0">
                <a:pos x="48" y="11"/>
              </a:cxn>
              <a:cxn ang="0">
                <a:pos x="25" y="11"/>
              </a:cxn>
              <a:cxn ang="0">
                <a:pos x="23" y="12"/>
              </a:cxn>
              <a:cxn ang="0">
                <a:pos x="22" y="15"/>
              </a:cxn>
              <a:cxn ang="0">
                <a:pos x="23" y="16"/>
              </a:cxn>
            </a:cxnLst>
            <a:rect l="0" t="0" r="r" b="b"/>
            <a:pathLst>
              <a:path w="64" h="60">
                <a:moveTo>
                  <a:pt x="63" y="20"/>
                </a:moveTo>
                <a:cubicBezTo>
                  <a:pt x="53" y="54"/>
                  <a:pt x="53" y="54"/>
                  <a:pt x="53" y="54"/>
                </a:cubicBezTo>
                <a:cubicBezTo>
                  <a:pt x="52" y="57"/>
                  <a:pt x="49" y="60"/>
                  <a:pt x="45" y="60"/>
                </a:cubicBezTo>
                <a:cubicBezTo>
                  <a:pt x="10" y="60"/>
                  <a:pt x="10" y="60"/>
                  <a:pt x="10" y="60"/>
                </a:cubicBezTo>
                <a:cubicBezTo>
                  <a:pt x="6" y="60"/>
                  <a:pt x="2" y="57"/>
                  <a:pt x="1" y="53"/>
                </a:cubicBezTo>
                <a:cubicBezTo>
                  <a:pt x="0" y="51"/>
                  <a:pt x="0" y="49"/>
                  <a:pt x="1" y="48"/>
                </a:cubicBezTo>
                <a:cubicBezTo>
                  <a:pt x="1" y="47"/>
                  <a:pt x="1" y="46"/>
                  <a:pt x="1" y="46"/>
                </a:cubicBezTo>
                <a:cubicBezTo>
                  <a:pt x="1" y="45"/>
                  <a:pt x="1" y="44"/>
                  <a:pt x="1" y="44"/>
                </a:cubicBezTo>
                <a:cubicBezTo>
                  <a:pt x="1" y="43"/>
                  <a:pt x="2" y="42"/>
                  <a:pt x="2" y="41"/>
                </a:cubicBezTo>
                <a:cubicBezTo>
                  <a:pt x="4" y="40"/>
                  <a:pt x="5" y="36"/>
                  <a:pt x="5" y="34"/>
                </a:cubicBezTo>
                <a:cubicBezTo>
                  <a:pt x="5" y="34"/>
                  <a:pt x="5" y="33"/>
                  <a:pt x="5" y="32"/>
                </a:cubicBezTo>
                <a:cubicBezTo>
                  <a:pt x="5" y="32"/>
                  <a:pt x="6" y="31"/>
                  <a:pt x="7" y="30"/>
                </a:cubicBezTo>
                <a:cubicBezTo>
                  <a:pt x="8" y="29"/>
                  <a:pt x="9" y="25"/>
                  <a:pt x="9" y="23"/>
                </a:cubicBezTo>
                <a:cubicBezTo>
                  <a:pt x="9" y="23"/>
                  <a:pt x="9" y="22"/>
                  <a:pt x="9" y="21"/>
                </a:cubicBezTo>
                <a:cubicBezTo>
                  <a:pt x="9" y="20"/>
                  <a:pt x="10" y="20"/>
                  <a:pt x="11" y="19"/>
                </a:cubicBezTo>
                <a:cubicBezTo>
                  <a:pt x="12" y="18"/>
                  <a:pt x="13" y="14"/>
                  <a:pt x="13" y="12"/>
                </a:cubicBezTo>
                <a:cubicBezTo>
                  <a:pt x="13" y="12"/>
                  <a:pt x="13" y="11"/>
                  <a:pt x="13" y="10"/>
                </a:cubicBezTo>
                <a:cubicBezTo>
                  <a:pt x="13" y="10"/>
                  <a:pt x="14" y="9"/>
                  <a:pt x="15" y="8"/>
                </a:cubicBezTo>
                <a:cubicBezTo>
                  <a:pt x="16" y="6"/>
                  <a:pt x="17" y="0"/>
                  <a:pt x="22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2"/>
                  <a:pt x="23" y="2"/>
                  <a:pt x="23" y="2"/>
                </a:cubicBezTo>
                <a:cubicBezTo>
                  <a:pt x="52" y="2"/>
                  <a:pt x="52" y="2"/>
                  <a:pt x="52" y="2"/>
                </a:cubicBezTo>
                <a:cubicBezTo>
                  <a:pt x="54" y="2"/>
                  <a:pt x="56" y="2"/>
                  <a:pt x="57" y="4"/>
                </a:cubicBezTo>
                <a:cubicBezTo>
                  <a:pt x="58" y="5"/>
                  <a:pt x="58" y="7"/>
                  <a:pt x="57" y="9"/>
                </a:cubicBezTo>
                <a:cubicBezTo>
                  <a:pt x="47" y="43"/>
                  <a:pt x="47" y="43"/>
                  <a:pt x="47" y="43"/>
                </a:cubicBezTo>
                <a:cubicBezTo>
                  <a:pt x="45" y="49"/>
                  <a:pt x="44" y="50"/>
                  <a:pt x="39" y="50"/>
                </a:cubicBezTo>
                <a:cubicBezTo>
                  <a:pt x="6" y="50"/>
                  <a:pt x="6" y="50"/>
                  <a:pt x="6" y="50"/>
                </a:cubicBezTo>
                <a:cubicBezTo>
                  <a:pt x="6" y="50"/>
                  <a:pt x="5" y="50"/>
                  <a:pt x="5" y="51"/>
                </a:cubicBezTo>
                <a:cubicBezTo>
                  <a:pt x="5" y="51"/>
                  <a:pt x="5" y="52"/>
                  <a:pt x="5" y="52"/>
                </a:cubicBezTo>
                <a:cubicBezTo>
                  <a:pt x="6" y="55"/>
                  <a:pt x="8" y="55"/>
                  <a:pt x="10" y="55"/>
                </a:cubicBezTo>
                <a:cubicBezTo>
                  <a:pt x="45" y="55"/>
                  <a:pt x="45" y="55"/>
                  <a:pt x="45" y="55"/>
                </a:cubicBezTo>
                <a:cubicBezTo>
                  <a:pt x="47" y="55"/>
                  <a:pt x="48" y="54"/>
                  <a:pt x="49" y="53"/>
                </a:cubicBezTo>
                <a:cubicBezTo>
                  <a:pt x="60" y="15"/>
                  <a:pt x="60" y="15"/>
                  <a:pt x="60" y="15"/>
                </a:cubicBezTo>
                <a:cubicBezTo>
                  <a:pt x="60" y="15"/>
                  <a:pt x="60" y="14"/>
                  <a:pt x="60" y="13"/>
                </a:cubicBezTo>
                <a:cubicBezTo>
                  <a:pt x="61" y="14"/>
                  <a:pt x="62" y="14"/>
                  <a:pt x="63" y="15"/>
                </a:cubicBezTo>
                <a:cubicBezTo>
                  <a:pt x="64" y="16"/>
                  <a:pt x="64" y="18"/>
                  <a:pt x="63" y="20"/>
                </a:cubicBezTo>
                <a:close/>
                <a:moveTo>
                  <a:pt x="20" y="26"/>
                </a:moveTo>
                <a:cubicBezTo>
                  <a:pt x="43" y="26"/>
                  <a:pt x="43" y="26"/>
                  <a:pt x="43" y="26"/>
                </a:cubicBezTo>
                <a:cubicBezTo>
                  <a:pt x="44" y="26"/>
                  <a:pt x="44" y="25"/>
                  <a:pt x="45" y="25"/>
                </a:cubicBezTo>
                <a:cubicBezTo>
                  <a:pt x="45" y="22"/>
                  <a:pt x="45" y="22"/>
                  <a:pt x="45" y="22"/>
                </a:cubicBezTo>
                <a:cubicBezTo>
                  <a:pt x="46" y="22"/>
                  <a:pt x="45" y="21"/>
                  <a:pt x="45" y="21"/>
                </a:cubicBezTo>
                <a:cubicBezTo>
                  <a:pt x="22" y="21"/>
                  <a:pt x="22" y="21"/>
                  <a:pt x="22" y="21"/>
                </a:cubicBezTo>
                <a:cubicBezTo>
                  <a:pt x="21" y="21"/>
                  <a:pt x="20" y="22"/>
                  <a:pt x="20" y="22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5"/>
                  <a:pt x="19" y="26"/>
                  <a:pt x="20" y="26"/>
                </a:cubicBezTo>
                <a:close/>
                <a:moveTo>
                  <a:pt x="23" y="16"/>
                </a:moveTo>
                <a:cubicBezTo>
                  <a:pt x="46" y="16"/>
                  <a:pt x="46" y="16"/>
                  <a:pt x="46" y="16"/>
                </a:cubicBezTo>
                <a:cubicBezTo>
                  <a:pt x="47" y="16"/>
                  <a:pt x="48" y="16"/>
                  <a:pt x="48" y="15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8" y="11"/>
                  <a:pt x="48" y="11"/>
                </a:cubicBezTo>
                <a:cubicBezTo>
                  <a:pt x="25" y="11"/>
                  <a:pt x="25" y="11"/>
                  <a:pt x="25" y="11"/>
                </a:cubicBezTo>
                <a:cubicBezTo>
                  <a:pt x="24" y="11"/>
                  <a:pt x="23" y="12"/>
                  <a:pt x="23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2" y="16"/>
                  <a:pt x="22" y="16"/>
                  <a:pt x="23" y="1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0" name="Freeform 20">
            <a:extLst>
              <a:ext uri="{FF2B5EF4-FFF2-40B4-BE49-F238E27FC236}">
                <a16:creationId xmlns:a16="http://schemas.microsoft.com/office/drawing/2014/main" id="{29CC3011-81A8-0205-DCCB-051F0B997F24}"/>
              </a:ext>
            </a:extLst>
          </p:cNvPr>
          <p:cNvSpPr>
            <a:spLocks noEditPoints="1"/>
          </p:cNvSpPr>
          <p:nvPr/>
        </p:nvSpPr>
        <p:spPr bwMode="auto">
          <a:xfrm>
            <a:off x="5041044" y="4489460"/>
            <a:ext cx="294217" cy="275167"/>
          </a:xfrm>
          <a:custGeom>
            <a:avLst/>
            <a:gdLst/>
            <a:ahLst/>
            <a:cxnLst>
              <a:cxn ang="0">
                <a:pos x="63" y="20"/>
              </a:cxn>
              <a:cxn ang="0">
                <a:pos x="53" y="54"/>
              </a:cxn>
              <a:cxn ang="0">
                <a:pos x="45" y="60"/>
              </a:cxn>
              <a:cxn ang="0">
                <a:pos x="10" y="60"/>
              </a:cxn>
              <a:cxn ang="0">
                <a:pos x="1" y="53"/>
              </a:cxn>
              <a:cxn ang="0">
                <a:pos x="1" y="48"/>
              </a:cxn>
              <a:cxn ang="0">
                <a:pos x="1" y="46"/>
              </a:cxn>
              <a:cxn ang="0">
                <a:pos x="1" y="44"/>
              </a:cxn>
              <a:cxn ang="0">
                <a:pos x="2" y="41"/>
              </a:cxn>
              <a:cxn ang="0">
                <a:pos x="5" y="34"/>
              </a:cxn>
              <a:cxn ang="0">
                <a:pos x="5" y="32"/>
              </a:cxn>
              <a:cxn ang="0">
                <a:pos x="7" y="30"/>
              </a:cxn>
              <a:cxn ang="0">
                <a:pos x="9" y="23"/>
              </a:cxn>
              <a:cxn ang="0">
                <a:pos x="9" y="21"/>
              </a:cxn>
              <a:cxn ang="0">
                <a:pos x="11" y="19"/>
              </a:cxn>
              <a:cxn ang="0">
                <a:pos x="13" y="12"/>
              </a:cxn>
              <a:cxn ang="0">
                <a:pos x="13" y="10"/>
              </a:cxn>
              <a:cxn ang="0">
                <a:pos x="15" y="8"/>
              </a:cxn>
              <a:cxn ang="0">
                <a:pos x="22" y="2"/>
              </a:cxn>
              <a:cxn ang="0">
                <a:pos x="22" y="2"/>
              </a:cxn>
              <a:cxn ang="0">
                <a:pos x="23" y="2"/>
              </a:cxn>
              <a:cxn ang="0">
                <a:pos x="52" y="2"/>
              </a:cxn>
              <a:cxn ang="0">
                <a:pos x="57" y="4"/>
              </a:cxn>
              <a:cxn ang="0">
                <a:pos x="57" y="9"/>
              </a:cxn>
              <a:cxn ang="0">
                <a:pos x="47" y="43"/>
              </a:cxn>
              <a:cxn ang="0">
                <a:pos x="39" y="50"/>
              </a:cxn>
              <a:cxn ang="0">
                <a:pos x="6" y="50"/>
              </a:cxn>
              <a:cxn ang="0">
                <a:pos x="5" y="51"/>
              </a:cxn>
              <a:cxn ang="0">
                <a:pos x="5" y="52"/>
              </a:cxn>
              <a:cxn ang="0">
                <a:pos x="10" y="55"/>
              </a:cxn>
              <a:cxn ang="0">
                <a:pos x="45" y="55"/>
              </a:cxn>
              <a:cxn ang="0">
                <a:pos x="49" y="53"/>
              </a:cxn>
              <a:cxn ang="0">
                <a:pos x="60" y="15"/>
              </a:cxn>
              <a:cxn ang="0">
                <a:pos x="60" y="13"/>
              </a:cxn>
              <a:cxn ang="0">
                <a:pos x="63" y="15"/>
              </a:cxn>
              <a:cxn ang="0">
                <a:pos x="63" y="20"/>
              </a:cxn>
              <a:cxn ang="0">
                <a:pos x="20" y="26"/>
              </a:cxn>
              <a:cxn ang="0">
                <a:pos x="43" y="26"/>
              </a:cxn>
              <a:cxn ang="0">
                <a:pos x="45" y="25"/>
              </a:cxn>
              <a:cxn ang="0">
                <a:pos x="45" y="22"/>
              </a:cxn>
              <a:cxn ang="0">
                <a:pos x="45" y="21"/>
              </a:cxn>
              <a:cxn ang="0">
                <a:pos x="22" y="21"/>
              </a:cxn>
              <a:cxn ang="0">
                <a:pos x="20" y="22"/>
              </a:cxn>
              <a:cxn ang="0">
                <a:pos x="19" y="25"/>
              </a:cxn>
              <a:cxn ang="0">
                <a:pos x="20" y="26"/>
              </a:cxn>
              <a:cxn ang="0">
                <a:pos x="23" y="16"/>
              </a:cxn>
              <a:cxn ang="0">
                <a:pos x="46" y="16"/>
              </a:cxn>
              <a:cxn ang="0">
                <a:pos x="48" y="15"/>
              </a:cxn>
              <a:cxn ang="0">
                <a:pos x="49" y="12"/>
              </a:cxn>
              <a:cxn ang="0">
                <a:pos x="48" y="11"/>
              </a:cxn>
              <a:cxn ang="0">
                <a:pos x="25" y="11"/>
              </a:cxn>
              <a:cxn ang="0">
                <a:pos x="23" y="12"/>
              </a:cxn>
              <a:cxn ang="0">
                <a:pos x="22" y="15"/>
              </a:cxn>
              <a:cxn ang="0">
                <a:pos x="23" y="16"/>
              </a:cxn>
            </a:cxnLst>
            <a:rect l="0" t="0" r="r" b="b"/>
            <a:pathLst>
              <a:path w="64" h="60">
                <a:moveTo>
                  <a:pt x="63" y="20"/>
                </a:moveTo>
                <a:cubicBezTo>
                  <a:pt x="53" y="54"/>
                  <a:pt x="53" y="54"/>
                  <a:pt x="53" y="54"/>
                </a:cubicBezTo>
                <a:cubicBezTo>
                  <a:pt x="52" y="57"/>
                  <a:pt x="49" y="60"/>
                  <a:pt x="45" y="60"/>
                </a:cubicBezTo>
                <a:cubicBezTo>
                  <a:pt x="10" y="60"/>
                  <a:pt x="10" y="60"/>
                  <a:pt x="10" y="60"/>
                </a:cubicBezTo>
                <a:cubicBezTo>
                  <a:pt x="6" y="60"/>
                  <a:pt x="2" y="57"/>
                  <a:pt x="1" y="53"/>
                </a:cubicBezTo>
                <a:cubicBezTo>
                  <a:pt x="0" y="51"/>
                  <a:pt x="0" y="49"/>
                  <a:pt x="1" y="48"/>
                </a:cubicBezTo>
                <a:cubicBezTo>
                  <a:pt x="1" y="47"/>
                  <a:pt x="1" y="46"/>
                  <a:pt x="1" y="46"/>
                </a:cubicBezTo>
                <a:cubicBezTo>
                  <a:pt x="1" y="45"/>
                  <a:pt x="1" y="44"/>
                  <a:pt x="1" y="44"/>
                </a:cubicBezTo>
                <a:cubicBezTo>
                  <a:pt x="1" y="43"/>
                  <a:pt x="2" y="42"/>
                  <a:pt x="2" y="41"/>
                </a:cubicBezTo>
                <a:cubicBezTo>
                  <a:pt x="4" y="40"/>
                  <a:pt x="5" y="36"/>
                  <a:pt x="5" y="34"/>
                </a:cubicBezTo>
                <a:cubicBezTo>
                  <a:pt x="5" y="34"/>
                  <a:pt x="5" y="33"/>
                  <a:pt x="5" y="32"/>
                </a:cubicBezTo>
                <a:cubicBezTo>
                  <a:pt x="5" y="32"/>
                  <a:pt x="6" y="31"/>
                  <a:pt x="7" y="30"/>
                </a:cubicBezTo>
                <a:cubicBezTo>
                  <a:pt x="8" y="29"/>
                  <a:pt x="9" y="25"/>
                  <a:pt x="9" y="23"/>
                </a:cubicBezTo>
                <a:cubicBezTo>
                  <a:pt x="9" y="23"/>
                  <a:pt x="9" y="22"/>
                  <a:pt x="9" y="21"/>
                </a:cubicBezTo>
                <a:cubicBezTo>
                  <a:pt x="9" y="20"/>
                  <a:pt x="10" y="20"/>
                  <a:pt x="11" y="19"/>
                </a:cubicBezTo>
                <a:cubicBezTo>
                  <a:pt x="12" y="18"/>
                  <a:pt x="13" y="14"/>
                  <a:pt x="13" y="12"/>
                </a:cubicBezTo>
                <a:cubicBezTo>
                  <a:pt x="13" y="12"/>
                  <a:pt x="13" y="11"/>
                  <a:pt x="13" y="10"/>
                </a:cubicBezTo>
                <a:cubicBezTo>
                  <a:pt x="13" y="10"/>
                  <a:pt x="14" y="9"/>
                  <a:pt x="15" y="8"/>
                </a:cubicBezTo>
                <a:cubicBezTo>
                  <a:pt x="16" y="6"/>
                  <a:pt x="17" y="0"/>
                  <a:pt x="22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2"/>
                  <a:pt x="23" y="2"/>
                  <a:pt x="23" y="2"/>
                </a:cubicBezTo>
                <a:cubicBezTo>
                  <a:pt x="52" y="2"/>
                  <a:pt x="52" y="2"/>
                  <a:pt x="52" y="2"/>
                </a:cubicBezTo>
                <a:cubicBezTo>
                  <a:pt x="54" y="2"/>
                  <a:pt x="56" y="2"/>
                  <a:pt x="57" y="4"/>
                </a:cubicBezTo>
                <a:cubicBezTo>
                  <a:pt x="58" y="5"/>
                  <a:pt x="58" y="7"/>
                  <a:pt x="57" y="9"/>
                </a:cubicBezTo>
                <a:cubicBezTo>
                  <a:pt x="47" y="43"/>
                  <a:pt x="47" y="43"/>
                  <a:pt x="47" y="43"/>
                </a:cubicBezTo>
                <a:cubicBezTo>
                  <a:pt x="45" y="49"/>
                  <a:pt x="44" y="50"/>
                  <a:pt x="39" y="50"/>
                </a:cubicBezTo>
                <a:cubicBezTo>
                  <a:pt x="6" y="50"/>
                  <a:pt x="6" y="50"/>
                  <a:pt x="6" y="50"/>
                </a:cubicBezTo>
                <a:cubicBezTo>
                  <a:pt x="6" y="50"/>
                  <a:pt x="5" y="50"/>
                  <a:pt x="5" y="51"/>
                </a:cubicBezTo>
                <a:cubicBezTo>
                  <a:pt x="5" y="51"/>
                  <a:pt x="5" y="52"/>
                  <a:pt x="5" y="52"/>
                </a:cubicBezTo>
                <a:cubicBezTo>
                  <a:pt x="6" y="55"/>
                  <a:pt x="8" y="55"/>
                  <a:pt x="10" y="55"/>
                </a:cubicBezTo>
                <a:cubicBezTo>
                  <a:pt x="45" y="55"/>
                  <a:pt x="45" y="55"/>
                  <a:pt x="45" y="55"/>
                </a:cubicBezTo>
                <a:cubicBezTo>
                  <a:pt x="47" y="55"/>
                  <a:pt x="48" y="54"/>
                  <a:pt x="49" y="53"/>
                </a:cubicBezTo>
                <a:cubicBezTo>
                  <a:pt x="60" y="15"/>
                  <a:pt x="60" y="15"/>
                  <a:pt x="60" y="15"/>
                </a:cubicBezTo>
                <a:cubicBezTo>
                  <a:pt x="60" y="15"/>
                  <a:pt x="60" y="14"/>
                  <a:pt x="60" y="13"/>
                </a:cubicBezTo>
                <a:cubicBezTo>
                  <a:pt x="61" y="14"/>
                  <a:pt x="62" y="14"/>
                  <a:pt x="63" y="15"/>
                </a:cubicBezTo>
                <a:cubicBezTo>
                  <a:pt x="64" y="16"/>
                  <a:pt x="64" y="18"/>
                  <a:pt x="63" y="20"/>
                </a:cubicBezTo>
                <a:close/>
                <a:moveTo>
                  <a:pt x="20" y="26"/>
                </a:moveTo>
                <a:cubicBezTo>
                  <a:pt x="43" y="26"/>
                  <a:pt x="43" y="26"/>
                  <a:pt x="43" y="26"/>
                </a:cubicBezTo>
                <a:cubicBezTo>
                  <a:pt x="44" y="26"/>
                  <a:pt x="44" y="25"/>
                  <a:pt x="45" y="25"/>
                </a:cubicBezTo>
                <a:cubicBezTo>
                  <a:pt x="45" y="22"/>
                  <a:pt x="45" y="22"/>
                  <a:pt x="45" y="22"/>
                </a:cubicBezTo>
                <a:cubicBezTo>
                  <a:pt x="46" y="22"/>
                  <a:pt x="45" y="21"/>
                  <a:pt x="45" y="21"/>
                </a:cubicBezTo>
                <a:cubicBezTo>
                  <a:pt x="22" y="21"/>
                  <a:pt x="22" y="21"/>
                  <a:pt x="22" y="21"/>
                </a:cubicBezTo>
                <a:cubicBezTo>
                  <a:pt x="21" y="21"/>
                  <a:pt x="20" y="22"/>
                  <a:pt x="20" y="22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5"/>
                  <a:pt x="19" y="26"/>
                  <a:pt x="20" y="26"/>
                </a:cubicBezTo>
                <a:close/>
                <a:moveTo>
                  <a:pt x="23" y="16"/>
                </a:moveTo>
                <a:cubicBezTo>
                  <a:pt x="46" y="16"/>
                  <a:pt x="46" y="16"/>
                  <a:pt x="46" y="16"/>
                </a:cubicBezTo>
                <a:cubicBezTo>
                  <a:pt x="47" y="16"/>
                  <a:pt x="48" y="16"/>
                  <a:pt x="48" y="15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8" y="11"/>
                  <a:pt x="48" y="11"/>
                </a:cubicBezTo>
                <a:cubicBezTo>
                  <a:pt x="25" y="11"/>
                  <a:pt x="25" y="11"/>
                  <a:pt x="25" y="11"/>
                </a:cubicBezTo>
                <a:cubicBezTo>
                  <a:pt x="24" y="11"/>
                  <a:pt x="23" y="12"/>
                  <a:pt x="23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2" y="16"/>
                  <a:pt x="22" y="16"/>
                  <a:pt x="23" y="1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737A378-0F1D-04CA-B344-07A9CD56079C}"/>
              </a:ext>
            </a:extLst>
          </p:cNvPr>
          <p:cNvSpPr txBox="1"/>
          <p:nvPr/>
        </p:nvSpPr>
        <p:spPr>
          <a:xfrm>
            <a:off x="-44125" y="4470197"/>
            <a:ext cx="2907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Education Facilities  Dataset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BBB698D-C4AE-1C21-485F-9DA3C2AFFA0D}"/>
              </a:ext>
            </a:extLst>
          </p:cNvPr>
          <p:cNvSpPr txBox="1"/>
          <p:nvPr/>
        </p:nvSpPr>
        <p:spPr>
          <a:xfrm>
            <a:off x="4065307" y="4018359"/>
            <a:ext cx="2838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2019 Census Data</a:t>
            </a:r>
          </a:p>
        </p:txBody>
      </p:sp>
    </p:spTree>
    <p:extLst>
      <p:ext uri="{BB962C8B-B14F-4D97-AF65-F5344CB8AC3E}">
        <p14:creationId xmlns:p14="http://schemas.microsoft.com/office/powerpoint/2010/main" val="14948955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94" grpId="0" animBg="1"/>
      <p:bldP spid="95" grpId="0" animBg="1"/>
      <p:bldP spid="108" grpId="0" animBg="1"/>
      <p:bldP spid="110" grpId="0" animBg="1"/>
      <p:bldP spid="111" grpId="0"/>
      <p:bldP spid="1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6">
            <a:extLst>
              <a:ext uri="{FF2B5EF4-FFF2-40B4-BE49-F238E27FC236}">
                <a16:creationId xmlns:a16="http://schemas.microsoft.com/office/drawing/2014/main" id="{41501E81-1AB7-4A69-BA8B-D4667D4D517A}"/>
              </a:ext>
            </a:extLst>
          </p:cNvPr>
          <p:cNvGrpSpPr/>
          <p:nvPr/>
        </p:nvGrpSpPr>
        <p:grpSpPr>
          <a:xfrm>
            <a:off x="509695" y="346206"/>
            <a:ext cx="2165729" cy="572136"/>
            <a:chOff x="956666" y="3498086"/>
            <a:chExt cx="2165729" cy="572136"/>
          </a:xfrm>
        </p:grpSpPr>
        <p:sp>
          <p:nvSpPr>
            <p:cNvPr id="25" name="TextBox 38">
              <a:extLst>
                <a:ext uri="{FF2B5EF4-FFF2-40B4-BE49-F238E27FC236}">
                  <a16:creationId xmlns:a16="http://schemas.microsoft.com/office/drawing/2014/main" id="{C53C28E3-DC0F-4C61-A42D-5AC7B5E4C36E}"/>
                </a:ext>
              </a:extLst>
            </p:cNvPr>
            <p:cNvSpPr txBox="1"/>
            <p:nvPr/>
          </p:nvSpPr>
          <p:spPr>
            <a:xfrm>
              <a:off x="2937664" y="3506795"/>
              <a:ext cx="184731" cy="400110"/>
            </a:xfrm>
            <a:prstGeom prst="rect">
              <a:avLst/>
            </a:prstGeom>
            <a:noFill/>
          </p:spPr>
          <p:txBody>
            <a:bodyPr wrap="none" rtlCol="0" anchor="t" anchorCtr="1">
              <a:spAutoFit/>
            </a:bodyPr>
            <a:lstStyle/>
            <a:p>
              <a:pPr algn="ctr"/>
              <a:endParaRPr lang="zh-CN" altLang="en-US" sz="2000" b="1" spc="6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软雅黑" panose="020B0503020204020204" pitchFamily="34" charset="-122"/>
                <a:cs typeface="Microsoft JhengHei Light" panose="020B0304030504040204" pitchFamily="34" charset="-122"/>
              </a:endParaRPr>
            </a:p>
          </p:txBody>
        </p:sp>
        <p:sp>
          <p:nvSpPr>
            <p:cNvPr id="26" name="矩形 8">
              <a:extLst>
                <a:ext uri="{FF2B5EF4-FFF2-40B4-BE49-F238E27FC236}">
                  <a16:creationId xmlns:a16="http://schemas.microsoft.com/office/drawing/2014/main" id="{E32947FC-0CAF-491E-BB70-4BE979241394}"/>
                </a:ext>
              </a:extLst>
            </p:cNvPr>
            <p:cNvSpPr/>
            <p:nvPr/>
          </p:nvSpPr>
          <p:spPr>
            <a:xfrm>
              <a:off x="956666" y="3498086"/>
              <a:ext cx="448664" cy="448662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j-lt"/>
                <a:ea typeface="微软雅黑" panose="020B0503020204020204" pitchFamily="34" charset="-122"/>
              </a:endParaRPr>
            </a:p>
          </p:txBody>
        </p:sp>
        <p:sp>
          <p:nvSpPr>
            <p:cNvPr id="27" name="矩形 9">
              <a:extLst>
                <a:ext uri="{FF2B5EF4-FFF2-40B4-BE49-F238E27FC236}">
                  <a16:creationId xmlns:a16="http://schemas.microsoft.com/office/drawing/2014/main" id="{3D41CC49-6D1D-4B11-8791-6EBDB155A635}"/>
                </a:ext>
              </a:extLst>
            </p:cNvPr>
            <p:cNvSpPr/>
            <p:nvPr/>
          </p:nvSpPr>
          <p:spPr>
            <a:xfrm>
              <a:off x="1176679" y="3689818"/>
              <a:ext cx="380404" cy="380404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j-lt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EDF60DA-A7F6-424E-9BCE-519535CA936F}"/>
              </a:ext>
            </a:extLst>
          </p:cNvPr>
          <p:cNvSpPr txBox="1"/>
          <p:nvPr/>
        </p:nvSpPr>
        <p:spPr>
          <a:xfrm>
            <a:off x="1330125" y="771966"/>
            <a:ext cx="8752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The Distribution of key Education Infrastructure per Constituency.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62407A3-9654-476D-AE4B-2700CFE6F5E0}"/>
              </a:ext>
            </a:extLst>
          </p:cNvPr>
          <p:cNvSpPr txBox="1"/>
          <p:nvPr/>
        </p:nvSpPr>
        <p:spPr>
          <a:xfrm>
            <a:off x="8851266" y="1679268"/>
            <a:ext cx="34801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People teacher ratio are higher in areas such as </a:t>
            </a:r>
            <a:r>
              <a:rPr lang="en-US" dirty="0" err="1"/>
              <a:t>Kamukunji</a:t>
            </a:r>
            <a:r>
              <a:rPr lang="en-US" dirty="0"/>
              <a:t> and </a:t>
            </a:r>
            <a:r>
              <a:rPr lang="en-US" dirty="0" err="1"/>
              <a:t>Makadara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Classroom ratio are higher in </a:t>
            </a:r>
            <a:r>
              <a:rPr lang="en-US" dirty="0" err="1"/>
              <a:t>kamukunji</a:t>
            </a:r>
            <a:r>
              <a:rPr lang="en-US" dirty="0"/>
              <a:t> </a:t>
            </a:r>
            <a:r>
              <a:rPr lang="en-US" dirty="0" err="1"/>
              <a:t>Starehe</a:t>
            </a:r>
            <a:r>
              <a:rPr lang="en-US" dirty="0"/>
              <a:t> and </a:t>
            </a:r>
            <a:r>
              <a:rPr lang="en-US" dirty="0" err="1"/>
              <a:t>Makadara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Toilet student ratio are higher in </a:t>
            </a:r>
            <a:r>
              <a:rPr lang="en-US" dirty="0" err="1"/>
              <a:t>starehe</a:t>
            </a:r>
            <a:r>
              <a:rPr lang="en-US" dirty="0"/>
              <a:t> then </a:t>
            </a:r>
            <a:r>
              <a:rPr lang="en-US" dirty="0" err="1"/>
              <a:t>Kamukunji</a:t>
            </a:r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A8CE955-3985-8881-DF1D-C0BDB3F34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4" y="1356629"/>
            <a:ext cx="8752922" cy="5080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7070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382136" y="305865"/>
            <a:ext cx="11409799" cy="461665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n-US" altLang="zh-CN" sz="2400" b="1" spc="6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软雅黑" panose="020B0503020204020204" pitchFamily="34" charset="-122"/>
                <a:cs typeface="Microsoft JhengHei Light" panose="020B0304030504040204" pitchFamily="34" charset="-122"/>
              </a:rPr>
              <a:t>Distribution of School Sponsors per Constituency </a:t>
            </a:r>
            <a:endParaRPr lang="zh-CN" altLang="en-US" sz="2400" b="1" spc="6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sp>
        <p:nvSpPr>
          <p:cNvPr id="21" name="AutoShape 12">
            <a:extLst>
              <a:ext uri="{FF2B5EF4-FFF2-40B4-BE49-F238E27FC236}">
                <a16:creationId xmlns:a16="http://schemas.microsoft.com/office/drawing/2014/main" id="{30BBE9E3-257B-4658-94BA-1DEE3DE05F8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912864" y="1516021"/>
            <a:ext cx="3703963" cy="790298"/>
          </a:xfrm>
          <a:prstGeom prst="homePlate">
            <a:avLst>
              <a:gd name="adj" fmla="val 63872"/>
            </a:avLst>
          </a:prstGeom>
          <a:solidFill>
            <a:srgbClr val="113F4E"/>
          </a:solidFill>
          <a:ln w="9525">
            <a:noFill/>
            <a:miter lim="800000"/>
            <a:headEnd/>
            <a:tailEnd/>
          </a:ln>
        </p:spPr>
        <p:txBody>
          <a:bodyPr wrap="none" lIns="91472" tIns="45736" rIns="91472" bIns="45736" anchor="ctr"/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+mj-lt"/>
                <a:ea typeface="微软雅黑" pitchFamily="34" charset="-122"/>
              </a:rPr>
              <a:t>Type of Sponsor</a:t>
            </a:r>
            <a:endParaRPr lang="zh-CN" altLang="en-US" b="1" dirty="0">
              <a:solidFill>
                <a:prstClr val="white"/>
              </a:solidFill>
              <a:latin typeface="+mj-lt"/>
              <a:ea typeface="微软雅黑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B25AA3-8B04-0CA4-94CC-47656C1ED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82" y="1056447"/>
            <a:ext cx="7434471" cy="561975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C69B64F-34BF-116A-56C6-A42ACE3EC42C}"/>
              </a:ext>
            </a:extLst>
          </p:cNvPr>
          <p:cNvGrpSpPr/>
          <p:nvPr/>
        </p:nvGrpSpPr>
        <p:grpSpPr>
          <a:xfrm>
            <a:off x="8050750" y="2591886"/>
            <a:ext cx="3718477" cy="3393363"/>
            <a:chOff x="7898350" y="2439486"/>
            <a:chExt cx="3718477" cy="3393363"/>
          </a:xfrm>
        </p:grpSpPr>
        <p:sp>
          <p:nvSpPr>
            <p:cNvPr id="5" name="矩形 12">
              <a:extLst>
                <a:ext uri="{FF2B5EF4-FFF2-40B4-BE49-F238E27FC236}">
                  <a16:creationId xmlns:a16="http://schemas.microsoft.com/office/drawing/2014/main" id="{4F0D9504-C8D8-FEAD-3015-DDC99C9C0AF2}"/>
                </a:ext>
              </a:extLst>
            </p:cNvPr>
            <p:cNvSpPr/>
            <p:nvPr/>
          </p:nvSpPr>
          <p:spPr>
            <a:xfrm>
              <a:off x="7898350" y="2439486"/>
              <a:ext cx="3703963" cy="3393363"/>
            </a:xfrm>
            <a:prstGeom prst="rect">
              <a:avLst/>
            </a:prstGeom>
            <a:noFill/>
            <a:ln>
              <a:solidFill>
                <a:srgbClr val="113F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72" tIns="45736" rIns="91472" bIns="45736" rtlCol="0" anchor="ctr"/>
            <a:lstStyle/>
            <a:p>
              <a:pPr algn="ctr"/>
              <a:endParaRPr lang="zh-CN" altLang="en-US" dirty="0">
                <a:latin typeface="+mj-lt"/>
                <a:ea typeface="微软雅黑" panose="020B0503020204020204" pitchFamily="34" charset="-122"/>
              </a:endParaRPr>
            </a:p>
          </p:txBody>
        </p:sp>
        <p:sp>
          <p:nvSpPr>
            <p:cNvPr id="6" name="TextBox 22">
              <a:extLst>
                <a:ext uri="{FF2B5EF4-FFF2-40B4-BE49-F238E27FC236}">
                  <a16:creationId xmlns:a16="http://schemas.microsoft.com/office/drawing/2014/main" id="{BB41C8B6-2700-3EE8-842B-30FD131344D5}"/>
                </a:ext>
              </a:extLst>
            </p:cNvPr>
            <p:cNvSpPr txBox="1"/>
            <p:nvPr/>
          </p:nvSpPr>
          <p:spPr>
            <a:xfrm>
              <a:off x="8056974" y="2803365"/>
              <a:ext cx="3559853" cy="1854066"/>
            </a:xfrm>
            <a:prstGeom prst="rect">
              <a:avLst/>
            </a:prstGeom>
            <a:noFill/>
          </p:spPr>
          <p:txBody>
            <a:bodyPr wrap="square" lIns="91472" tIns="45736" rIns="91472" bIns="45736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From the graph we can see that most of the schools are privately owned with a few schools owned by the government or community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10790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6">
            <a:extLst>
              <a:ext uri="{FF2B5EF4-FFF2-40B4-BE49-F238E27FC236}">
                <a16:creationId xmlns:a16="http://schemas.microsoft.com/office/drawing/2014/main" id="{41501E81-1AB7-4A69-BA8B-D4667D4D517A}"/>
              </a:ext>
            </a:extLst>
          </p:cNvPr>
          <p:cNvGrpSpPr/>
          <p:nvPr/>
        </p:nvGrpSpPr>
        <p:grpSpPr>
          <a:xfrm>
            <a:off x="509695" y="346206"/>
            <a:ext cx="2122184" cy="572136"/>
            <a:chOff x="956666" y="3498086"/>
            <a:chExt cx="2122184" cy="572136"/>
          </a:xfrm>
        </p:grpSpPr>
        <p:sp>
          <p:nvSpPr>
            <p:cNvPr id="41" name="TextBox 38">
              <a:extLst>
                <a:ext uri="{FF2B5EF4-FFF2-40B4-BE49-F238E27FC236}">
                  <a16:creationId xmlns:a16="http://schemas.microsoft.com/office/drawing/2014/main" id="{C53C28E3-DC0F-4C61-A42D-5AC7B5E4C36E}"/>
                </a:ext>
              </a:extLst>
            </p:cNvPr>
            <p:cNvSpPr txBox="1"/>
            <p:nvPr/>
          </p:nvSpPr>
          <p:spPr>
            <a:xfrm>
              <a:off x="2894119" y="3498086"/>
              <a:ext cx="184731" cy="400110"/>
            </a:xfrm>
            <a:prstGeom prst="rect">
              <a:avLst/>
            </a:prstGeom>
            <a:noFill/>
          </p:spPr>
          <p:txBody>
            <a:bodyPr wrap="none" rtlCol="0" anchor="t" anchorCtr="1">
              <a:spAutoFit/>
            </a:bodyPr>
            <a:lstStyle/>
            <a:p>
              <a:pPr algn="ctr"/>
              <a:endParaRPr lang="zh-CN" altLang="en-US" sz="2000" b="1" spc="6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软雅黑" panose="020B0503020204020204" pitchFamily="34" charset="-122"/>
                <a:cs typeface="Microsoft JhengHei Light" panose="020B0304030504040204" pitchFamily="34" charset="-122"/>
              </a:endParaRPr>
            </a:p>
          </p:txBody>
        </p:sp>
        <p:sp>
          <p:nvSpPr>
            <p:cNvPr id="42" name="矩形 8">
              <a:extLst>
                <a:ext uri="{FF2B5EF4-FFF2-40B4-BE49-F238E27FC236}">
                  <a16:creationId xmlns:a16="http://schemas.microsoft.com/office/drawing/2014/main" id="{E32947FC-0CAF-491E-BB70-4BE979241394}"/>
                </a:ext>
              </a:extLst>
            </p:cNvPr>
            <p:cNvSpPr/>
            <p:nvPr/>
          </p:nvSpPr>
          <p:spPr>
            <a:xfrm>
              <a:off x="956666" y="3498086"/>
              <a:ext cx="448664" cy="448662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j-lt"/>
                <a:ea typeface="微软雅黑" panose="020B0503020204020204" pitchFamily="34" charset="-122"/>
              </a:endParaRPr>
            </a:p>
          </p:txBody>
        </p:sp>
        <p:sp>
          <p:nvSpPr>
            <p:cNvPr id="43" name="矩形 9">
              <a:extLst>
                <a:ext uri="{FF2B5EF4-FFF2-40B4-BE49-F238E27FC236}">
                  <a16:creationId xmlns:a16="http://schemas.microsoft.com/office/drawing/2014/main" id="{3D41CC49-6D1D-4B11-8791-6EBDB155A635}"/>
                </a:ext>
              </a:extLst>
            </p:cNvPr>
            <p:cNvSpPr/>
            <p:nvPr/>
          </p:nvSpPr>
          <p:spPr>
            <a:xfrm>
              <a:off x="1176679" y="3689818"/>
              <a:ext cx="380404" cy="380404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j-lt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0CBC6B5-8DCB-423A-98B6-609D1C450F88}"/>
              </a:ext>
            </a:extLst>
          </p:cNvPr>
          <p:cNvSpPr txBox="1"/>
          <p:nvPr/>
        </p:nvSpPr>
        <p:spPr>
          <a:xfrm>
            <a:off x="1340310" y="728140"/>
            <a:ext cx="1044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School Distribution in Relation to Population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96F39FE-6E86-3725-1D48-95D4B20E7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42" y="1238250"/>
            <a:ext cx="7330172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C0B22F4-E878-117B-C72D-43B919118D18}"/>
              </a:ext>
            </a:extLst>
          </p:cNvPr>
          <p:cNvGrpSpPr/>
          <p:nvPr/>
        </p:nvGrpSpPr>
        <p:grpSpPr>
          <a:xfrm>
            <a:off x="8063410" y="1571739"/>
            <a:ext cx="3703963" cy="3393363"/>
            <a:chOff x="7898350" y="2439486"/>
            <a:chExt cx="3703963" cy="3393363"/>
          </a:xfrm>
        </p:grpSpPr>
        <p:sp>
          <p:nvSpPr>
            <p:cNvPr id="5" name="矩形 12">
              <a:extLst>
                <a:ext uri="{FF2B5EF4-FFF2-40B4-BE49-F238E27FC236}">
                  <a16:creationId xmlns:a16="http://schemas.microsoft.com/office/drawing/2014/main" id="{778AE0D5-F2D9-D3A6-0923-4504F5615316}"/>
                </a:ext>
              </a:extLst>
            </p:cNvPr>
            <p:cNvSpPr/>
            <p:nvPr/>
          </p:nvSpPr>
          <p:spPr>
            <a:xfrm>
              <a:off x="7898350" y="2439486"/>
              <a:ext cx="3703963" cy="3393363"/>
            </a:xfrm>
            <a:prstGeom prst="rect">
              <a:avLst/>
            </a:prstGeom>
            <a:noFill/>
            <a:ln>
              <a:solidFill>
                <a:srgbClr val="113F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72" tIns="45736" rIns="91472" bIns="45736" rtlCol="0" anchor="ctr"/>
            <a:lstStyle/>
            <a:p>
              <a:pPr algn="ctr"/>
              <a:endParaRPr lang="zh-CN" altLang="en-US" dirty="0">
                <a:latin typeface="+mj-lt"/>
                <a:ea typeface="微软雅黑" panose="020B0503020204020204" pitchFamily="34" charset="-122"/>
              </a:endParaRPr>
            </a:p>
          </p:txBody>
        </p:sp>
        <p:sp>
          <p:nvSpPr>
            <p:cNvPr id="8" name="TextBox 22">
              <a:extLst>
                <a:ext uri="{FF2B5EF4-FFF2-40B4-BE49-F238E27FC236}">
                  <a16:creationId xmlns:a16="http://schemas.microsoft.com/office/drawing/2014/main" id="{1870E16B-3499-BC1D-60B5-11C76438F18E}"/>
                </a:ext>
              </a:extLst>
            </p:cNvPr>
            <p:cNvSpPr txBox="1"/>
            <p:nvPr/>
          </p:nvSpPr>
          <p:spPr>
            <a:xfrm>
              <a:off x="7901353" y="2477746"/>
              <a:ext cx="3559853" cy="3294460"/>
            </a:xfrm>
            <a:prstGeom prst="rect">
              <a:avLst/>
            </a:prstGeom>
            <a:noFill/>
          </p:spPr>
          <p:txBody>
            <a:bodyPr wrap="square" lIns="91472" tIns="45736" rIns="91472" bIns="45736" rtlCol="0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From the graph we can see that Langata and Kasarani have a higher school distribution to their population.</a:t>
              </a:r>
            </a:p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chemeClr val="bg1">
                      <a:lumMod val="50000"/>
                    </a:schemeClr>
                  </a:solidFill>
                </a:rPr>
                <a:t>Kamukunji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 and </a:t>
              </a:r>
              <a:r>
                <a:rPr lang="en-US" dirty="0" err="1">
                  <a:solidFill>
                    <a:schemeClr val="bg1">
                      <a:lumMod val="50000"/>
                    </a:schemeClr>
                  </a:solidFill>
                </a:rPr>
                <a:t>Makadara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</a:rPr>
                <a:t> have a low school distribution for their population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33061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9D59E-4B49-EFEE-F379-74FD97E5B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465A71-A7F1-6FF4-5153-402243DA9A84}"/>
              </a:ext>
            </a:extLst>
          </p:cNvPr>
          <p:cNvGrpSpPr/>
          <p:nvPr/>
        </p:nvGrpSpPr>
        <p:grpSpPr>
          <a:xfrm>
            <a:off x="26432" y="859375"/>
            <a:ext cx="5464528" cy="5601206"/>
            <a:chOff x="6448797" y="174171"/>
            <a:chExt cx="5464528" cy="5601206"/>
          </a:xfrm>
        </p:grpSpPr>
        <p:sp>
          <p:nvSpPr>
            <p:cNvPr id="27" name="圆角矩形 12">
              <a:extLst>
                <a:ext uri="{FF2B5EF4-FFF2-40B4-BE49-F238E27FC236}">
                  <a16:creationId xmlns:a16="http://schemas.microsoft.com/office/drawing/2014/main" id="{83DA1732-DF56-A32C-F4CA-22382FACFA6B}"/>
                </a:ext>
              </a:extLst>
            </p:cNvPr>
            <p:cNvSpPr/>
            <p:nvPr/>
          </p:nvSpPr>
          <p:spPr bwMode="auto">
            <a:xfrm>
              <a:off x="6600550" y="174171"/>
              <a:ext cx="5312775" cy="5601206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91430" tIns="45716" rIns="91430" bIns="45716" anchor="ctr">
              <a:sp3d/>
            </a:bodyPr>
            <a:lstStyle/>
            <a:p>
              <a:pPr marL="0" lvl="2" algn="ctr" eaLnBrk="0" fontAlgn="ctr" hangingPunct="0">
                <a:buClr>
                  <a:srgbClr val="FF0000"/>
                </a:buClr>
                <a:buSzPct val="70000"/>
                <a:buFont typeface="Wingdings" pitchFamily="2" charset="2"/>
                <a:buChar char="n"/>
                <a:tabLst>
                  <a:tab pos="136509" algn="l"/>
                </a:tabLst>
                <a:defRPr/>
              </a:pPr>
              <a:endParaRPr lang="zh-CN" altLang="en-US" sz="1600" dirty="0">
                <a:solidFill>
                  <a:schemeClr val="tx1"/>
                </a:solidFill>
                <a:latin typeface="+mj-lt"/>
                <a:ea typeface="微软雅黑" pitchFamily="34" charset="-122"/>
              </a:endParaRPr>
            </a:p>
          </p:txBody>
        </p:sp>
        <p:sp>
          <p:nvSpPr>
            <p:cNvPr id="28" name="矩形 87">
              <a:extLst>
                <a:ext uri="{FF2B5EF4-FFF2-40B4-BE49-F238E27FC236}">
                  <a16:creationId xmlns:a16="http://schemas.microsoft.com/office/drawing/2014/main" id="{A665E33F-E3E6-2E82-0261-C36D2FED9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8797" y="382060"/>
              <a:ext cx="5213518" cy="369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0" tIns="45716" rIns="91430" bIns="45716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4" name="矩形 14">
              <a:extLst>
                <a:ext uri="{FF2B5EF4-FFF2-40B4-BE49-F238E27FC236}">
                  <a16:creationId xmlns:a16="http://schemas.microsoft.com/office/drawing/2014/main" id="{7576B913-76E6-1499-6BE2-32B8D80CF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1997" y="2355715"/>
              <a:ext cx="167752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anchor="ctr">
              <a:spAutoFit/>
            </a:bodyPr>
            <a:lstStyle/>
            <a:p>
              <a:pPr algn="ctr" fontAlgn="ctr">
                <a:buClr>
                  <a:srgbClr val="FF0000"/>
                </a:buClr>
                <a:buSzPct val="70000"/>
                <a:defRPr/>
              </a:pPr>
              <a:r>
                <a:rPr kumimoji="1" lang="en-US" altLang="zh-CN" b="1" dirty="0">
                  <a:solidFill>
                    <a:schemeClr val="bg1"/>
                  </a:solidFill>
                  <a:latin typeface="+mj-lt"/>
                  <a:ea typeface="微软雅黑" pitchFamily="34" charset="-122"/>
                </a:rPr>
                <a:t>I </a:t>
              </a:r>
              <a:endParaRPr kumimoji="1" lang="zh-CN" altLang="en-US" b="1" dirty="0">
                <a:solidFill>
                  <a:schemeClr val="bg1"/>
                </a:solidFill>
                <a:latin typeface="+mj-lt"/>
                <a:ea typeface="微软雅黑" pitchFamily="34" charset="-122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5BD5898-15D5-A1C5-E533-CF4D540D41C7}"/>
              </a:ext>
            </a:extLst>
          </p:cNvPr>
          <p:cNvGrpSpPr/>
          <p:nvPr/>
        </p:nvGrpSpPr>
        <p:grpSpPr>
          <a:xfrm>
            <a:off x="6125593" y="161938"/>
            <a:ext cx="5336699" cy="6498180"/>
            <a:chOff x="6600550" y="3344432"/>
            <a:chExt cx="5336699" cy="6498180"/>
          </a:xfrm>
        </p:grpSpPr>
        <p:sp>
          <p:nvSpPr>
            <p:cNvPr id="25" name="圆角矩形 10">
              <a:extLst>
                <a:ext uri="{FF2B5EF4-FFF2-40B4-BE49-F238E27FC236}">
                  <a16:creationId xmlns:a16="http://schemas.microsoft.com/office/drawing/2014/main" id="{2A2B594D-576A-43E5-28BE-B21DB7FB89A6}"/>
                </a:ext>
              </a:extLst>
            </p:cNvPr>
            <p:cNvSpPr/>
            <p:nvPr/>
          </p:nvSpPr>
          <p:spPr bwMode="auto">
            <a:xfrm>
              <a:off x="6600550" y="3835066"/>
              <a:ext cx="5336699" cy="585741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30" tIns="45716" rIns="91430" bIns="45716" anchor="ctr">
              <a:sp3d/>
            </a:bodyPr>
            <a:lstStyle/>
            <a:p>
              <a:pPr marL="0" lvl="2" algn="ctr" eaLnBrk="0" fontAlgn="ctr" hangingPunct="0">
                <a:buClr>
                  <a:srgbClr val="FF0000"/>
                </a:buClr>
                <a:buSzPct val="70000"/>
                <a:buFont typeface="Wingdings" pitchFamily="2" charset="2"/>
                <a:buChar char="n"/>
                <a:tabLst>
                  <a:tab pos="136509" algn="l"/>
                </a:tabLst>
                <a:defRPr/>
              </a:pPr>
              <a:endParaRPr lang="zh-CN" altLang="en-US" sz="1600" dirty="0">
                <a:solidFill>
                  <a:schemeClr val="accent2"/>
                </a:solidFill>
                <a:latin typeface="+mj-lt"/>
                <a:ea typeface="微软雅黑" pitchFamily="34" charset="-122"/>
              </a:endParaRPr>
            </a:p>
          </p:txBody>
        </p:sp>
        <p:sp>
          <p:nvSpPr>
            <p:cNvPr id="26" name="矩形 87">
              <a:extLst>
                <a:ext uri="{FF2B5EF4-FFF2-40B4-BE49-F238E27FC236}">
                  <a16:creationId xmlns:a16="http://schemas.microsoft.com/office/drawing/2014/main" id="{1B4D424B-96E8-37E6-B8E2-B0184F6C1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1818" y="4561687"/>
              <a:ext cx="4930240" cy="5280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0" tIns="45716" rIns="91430" bIns="45716">
              <a:spAutoFit/>
            </a:bodyPr>
            <a:lstStyle/>
            <a:p>
              <a:pPr algn="l">
                <a:spcAft>
                  <a:spcPts val="675"/>
                </a:spcAft>
                <a:buFont typeface="+mj-lt"/>
                <a:buAutoNum type="arabicPeriod"/>
              </a:pPr>
              <a:r>
                <a:rPr lang="en-US" b="0" i="0" dirty="0">
                  <a:solidFill>
                    <a:schemeClr val="bg1">
                      <a:lumMod val="50000"/>
                    </a:schemeClr>
                  </a:solidFill>
                  <a:effectLst/>
                  <a:latin typeface="Aptos Display" panose="020B0004020202020204" pitchFamily="34" charset="0"/>
                  <a:ea typeface="微软雅黑" pitchFamily="34" charset="-122"/>
                </a:rPr>
                <a:t> I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 Recommend that the government should construct more schools especially in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Kamukunji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 and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Makadara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 which have a higher population compared to the rest of Nairobi</a:t>
              </a:r>
            </a:p>
            <a:p>
              <a:pPr algn="l">
                <a:spcAft>
                  <a:spcPts val="675"/>
                </a:spcAft>
                <a:buFont typeface="+mj-lt"/>
                <a:buAutoNum type="arabicPeriod"/>
              </a:pPr>
              <a:r>
                <a:rPr lang="en-US" b="0" i="0" dirty="0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More teachers should be hired in schools especially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Kamukunji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 ,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Makadara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 and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Starehe</a:t>
              </a:r>
              <a:endParaRPr lang="en-US" b="0" i="0" dirty="0">
                <a:solidFill>
                  <a:srgbClr val="000000"/>
                </a:solidFill>
                <a:effectLst/>
                <a:latin typeface="Aptos Display" panose="020B0004020202020204" pitchFamily="34" charset="0"/>
              </a:endParaRPr>
            </a:p>
            <a:p>
              <a:pPr algn="l">
                <a:spcAft>
                  <a:spcPts val="675"/>
                </a:spcAft>
                <a:buFont typeface="+mj-lt"/>
                <a:buAutoNum type="arabicPeriod"/>
              </a:pPr>
              <a:r>
                <a:rPr lang="en-US" b="0" i="0" dirty="0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Building of Amenities and Classrooms should also take place in the same areas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Kamukunji,Starehe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 and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Makadara</a:t>
              </a:r>
              <a:endParaRPr lang="en-US" b="0" i="0" dirty="0">
                <a:solidFill>
                  <a:srgbClr val="000000"/>
                </a:solidFill>
                <a:effectLst/>
                <a:latin typeface="Aptos Display" panose="020B0004020202020204" pitchFamily="34" charset="0"/>
              </a:endParaRPr>
            </a:p>
            <a:p>
              <a:pPr algn="l">
                <a:spcAft>
                  <a:spcPts val="675"/>
                </a:spcAft>
                <a:buFont typeface="+mj-lt"/>
                <a:buAutoNum type="arabicPeriod"/>
              </a:pPr>
              <a:r>
                <a:rPr lang="en-US" b="0" i="0" dirty="0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In the data it is evident that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Kamukunji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,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Makadara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 and </a:t>
              </a:r>
              <a:r>
                <a:rPr lang="en-US" b="0" i="0" dirty="0" err="1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Starehe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 constituencies are lagging behind as compared to other constituencies in Nairobi in terms of Infrastructure development in Schools and Also teacher distribution</a:t>
              </a:r>
            </a:p>
            <a:p>
              <a:pPr algn="l">
                <a:spcAft>
                  <a:spcPts val="675"/>
                </a:spcAft>
                <a:buFont typeface="+mj-lt"/>
                <a:buAutoNum type="arabicPeriod"/>
              </a:pPr>
              <a:r>
                <a:rPr lang="en-US" b="0" i="0" dirty="0">
                  <a:solidFill>
                    <a:srgbClr val="000000"/>
                  </a:solidFill>
                  <a:effectLst/>
                  <a:latin typeface="Aptos Display" panose="020B0004020202020204" pitchFamily="34" charset="0"/>
                </a:rPr>
                <a:t>Leverage community and NGO support for ongoing improvements.</a:t>
              </a:r>
            </a:p>
            <a:p>
              <a:pPr algn="ctr" eaLnBrk="0" fontAlgn="ctr" hangingPunct="0">
                <a:buClr>
                  <a:srgbClr val="FF0000"/>
                </a:buClr>
                <a:buSzPct val="70000"/>
              </a:pPr>
              <a:endParaRPr lang="zh-CN" altLang="en-US" sz="2000" dirty="0">
                <a:solidFill>
                  <a:schemeClr val="bg1">
                    <a:lumMod val="50000"/>
                  </a:schemeClr>
                </a:solidFill>
                <a:latin typeface="+mj-lt"/>
                <a:ea typeface="微软雅黑" pitchFamily="34" charset="-122"/>
              </a:endParaRPr>
            </a:p>
          </p:txBody>
        </p:sp>
        <p:grpSp>
          <p:nvGrpSpPr>
            <p:cNvPr id="30" name="组合 26">
              <a:extLst>
                <a:ext uri="{FF2B5EF4-FFF2-40B4-BE49-F238E27FC236}">
                  <a16:creationId xmlns:a16="http://schemas.microsoft.com/office/drawing/2014/main" id="{9989E069-B435-A3DB-A8F3-42077BCDF0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10084" y="3344432"/>
              <a:ext cx="4096374" cy="943528"/>
              <a:chOff x="855540" y="3513439"/>
              <a:chExt cx="1399872" cy="987727"/>
            </a:xfrm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</p:grpSpPr>
          <p:sp>
            <p:nvSpPr>
              <p:cNvPr id="31" name="圆角矩形 18">
                <a:extLst>
                  <a:ext uri="{FF2B5EF4-FFF2-40B4-BE49-F238E27FC236}">
                    <a16:creationId xmlns:a16="http://schemas.microsoft.com/office/drawing/2014/main" id="{5E40D61E-4DB1-218D-2B63-BF230014CCC5}"/>
                  </a:ext>
                </a:extLst>
              </p:cNvPr>
              <p:cNvSpPr/>
              <p:nvPr/>
            </p:nvSpPr>
            <p:spPr>
              <a:xfrm>
                <a:off x="855540" y="3513439"/>
                <a:ext cx="1399872" cy="987727"/>
              </a:xfrm>
              <a:prstGeom prst="roundRect">
                <a:avLst>
                  <a:gd name="adj" fmla="val 0"/>
                </a:avLst>
              </a:prstGeom>
              <a:solidFill>
                <a:srgbClr val="55C0AF"/>
              </a:solidFill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anchor="ctr">
                <a:sp3d/>
              </a:bodyPr>
              <a:lstStyle/>
              <a:p>
                <a:pPr algn="ctr" eaLnBrk="0" fontAlgn="ctr" hangingPunct="0">
                  <a:buClr>
                    <a:srgbClr val="FF0000"/>
                  </a:buClr>
                  <a:buSzPct val="70000"/>
                  <a:buFont typeface="Wingdings" pitchFamily="2" charset="2"/>
                  <a:buChar char="u"/>
                  <a:defRPr/>
                </a:pPr>
                <a:endParaRPr lang="zh-CN" altLang="en-US" b="1">
                  <a:solidFill>
                    <a:schemeClr val="bg1"/>
                  </a:solidFill>
                  <a:latin typeface="+mj-lt"/>
                  <a:ea typeface="微软雅黑" pitchFamily="34" charset="-122"/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A57ED43A-9163-3448-DF49-57FBC5A862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021" y="3813983"/>
                <a:ext cx="1250910" cy="3866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90500" h="38100"/>
              </a:sp3d>
            </p:spPr>
            <p:txBody>
              <a:bodyPr anchor="ctr">
                <a:spAutoFit/>
              </a:bodyPr>
              <a:lstStyle/>
              <a:p>
                <a:pPr algn="ctr" fontAlgn="ctr">
                  <a:buClr>
                    <a:srgbClr val="FF0000"/>
                  </a:buClr>
                  <a:buSzPct val="70000"/>
                  <a:defRPr/>
                </a:pPr>
                <a:r>
                  <a:rPr kumimoji="1" lang="en-US" altLang="zh-CN" b="1" dirty="0">
                    <a:solidFill>
                      <a:schemeClr val="bg1"/>
                    </a:solidFill>
                    <a:latin typeface="+mj-lt"/>
                    <a:ea typeface="微软雅黑" pitchFamily="34" charset="-122"/>
                  </a:rPr>
                  <a:t>RECOMMENDATIONS </a:t>
                </a:r>
                <a:endParaRPr kumimoji="1" lang="zh-CN" altLang="en-US" b="1" dirty="0">
                  <a:solidFill>
                    <a:schemeClr val="bg1"/>
                  </a:solidFill>
                  <a:latin typeface="+mj-lt"/>
                  <a:ea typeface="微软雅黑" pitchFamily="34" charset="-122"/>
                </a:endParaRPr>
              </a:p>
            </p:txBody>
          </p:sp>
        </p:grpSp>
      </p:grpSp>
      <p:sp>
        <p:nvSpPr>
          <p:cNvPr id="12" name="矩形 32">
            <a:extLst>
              <a:ext uri="{FF2B5EF4-FFF2-40B4-BE49-F238E27FC236}">
                <a16:creationId xmlns:a16="http://schemas.microsoft.com/office/drawing/2014/main" id="{862CFD43-771F-0DA7-36A5-C6744941751B}"/>
              </a:ext>
            </a:extLst>
          </p:cNvPr>
          <p:cNvSpPr/>
          <p:nvPr/>
        </p:nvSpPr>
        <p:spPr bwMode="auto">
          <a:xfrm>
            <a:off x="759953" y="438360"/>
            <a:ext cx="4096374" cy="940833"/>
          </a:xfrm>
          <a:prstGeom prst="rect">
            <a:avLst/>
          </a:prstGeom>
          <a:solidFill>
            <a:srgbClr val="113F4E"/>
          </a:solidFill>
          <a:ln>
            <a:noFill/>
          </a:ln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sp3d/>
          </a:bodyPr>
          <a:lstStyle/>
          <a:p>
            <a:pPr algn="ctr" eaLnBrk="0" fontAlgn="ctr" hangingPunct="0">
              <a:buClr>
                <a:srgbClr val="FF0000"/>
              </a:buClr>
              <a:buSzPct val="70000"/>
              <a:buFont typeface="Wingdings" pitchFamily="2" charset="2"/>
              <a:buChar char="u"/>
              <a:defRPr/>
            </a:pPr>
            <a:r>
              <a:rPr kumimoji="1" lang="en-US" altLang="zh-CN" b="1" dirty="0">
                <a:solidFill>
                  <a:schemeClr val="bg1"/>
                </a:solidFill>
                <a:latin typeface="+mj-lt"/>
                <a:ea typeface="微软雅黑" pitchFamily="34" charset="-122"/>
              </a:rPr>
              <a:t>CONCLUSION</a:t>
            </a:r>
            <a:endParaRPr lang="zh-CN" altLang="en-US" b="1" dirty="0">
              <a:solidFill>
                <a:schemeClr val="bg1"/>
              </a:solidFill>
              <a:latin typeface="+mj-lt"/>
              <a:ea typeface="微软雅黑" pitchFamily="34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D2DADE-EC17-9F77-5445-6704EC6F802E}"/>
              </a:ext>
            </a:extLst>
          </p:cNvPr>
          <p:cNvSpPr txBox="1"/>
          <p:nvPr/>
        </p:nvSpPr>
        <p:spPr>
          <a:xfrm>
            <a:off x="397253" y="1387158"/>
            <a:ext cx="4561260" cy="3131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5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Pupil Teacher Ratio are higher in areas such 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 Neue"/>
              </a:rPr>
              <a:t>Kamukunji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 followed by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 Neue"/>
              </a:rPr>
              <a:t>Makadara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 and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 Neue"/>
              </a:rPr>
              <a:t>Starehe</a:t>
            </a:r>
            <a:endParaRPr lang="en-US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l">
              <a:spcAft>
                <a:spcPts val="675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Classroom to students ratio are higher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 Neue"/>
              </a:rPr>
              <a:t>starehe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 Neue"/>
              </a:rPr>
              <a:t>Kamukunji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 and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 Neue"/>
              </a:rPr>
              <a:t>Makadara</a:t>
            </a:r>
            <a:endParaRPr lang="en-US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l">
              <a:spcAft>
                <a:spcPts val="675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Toilet to students ratio are higher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 Neue"/>
              </a:rPr>
              <a:t>Starehe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 then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 Neue"/>
              </a:rPr>
              <a:t>Kamukunji</a:t>
            </a:r>
            <a:endParaRPr lang="en-US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algn="l">
              <a:spcAft>
                <a:spcPts val="675"/>
              </a:spcAft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Helvetica Neue"/>
              </a:rPr>
              <a:t>W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e have more students not having enough classrooms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 Neue"/>
              </a:rPr>
              <a:t>Makadara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 and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 Neue"/>
              </a:rPr>
              <a:t>Kamukunji</a:t>
            </a:r>
            <a:endParaRPr lang="en-US" b="0" i="0" dirty="0">
              <a:solidFill>
                <a:srgbClr val="000000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8274694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21">
            <a:extLst>
              <a:ext uri="{FF2B5EF4-FFF2-40B4-BE49-F238E27FC236}">
                <a16:creationId xmlns:a16="http://schemas.microsoft.com/office/drawing/2014/main" id="{EA6CA8BE-1744-42CB-AF91-E913C4466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文本框 14">
            <a:extLst>
              <a:ext uri="{FF2B5EF4-FFF2-40B4-BE49-F238E27FC236}">
                <a16:creationId xmlns:a16="http://schemas.microsoft.com/office/drawing/2014/main" id="{065F9F94-4386-4844-A145-9DF0B233A872}"/>
              </a:ext>
            </a:extLst>
          </p:cNvPr>
          <p:cNvSpPr txBox="1"/>
          <p:nvPr/>
        </p:nvSpPr>
        <p:spPr>
          <a:xfrm>
            <a:off x="6222332" y="2278927"/>
            <a:ext cx="58363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altLang="zh-CN" sz="7200" b="1" dirty="0">
                <a:solidFill>
                  <a:srgbClr val="113F4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软雅黑" panose="020B0503020204020204" pitchFamily="34" charset="-122"/>
              </a:rPr>
              <a:t>THANK YOU !</a:t>
            </a:r>
            <a:endParaRPr lang="zh-CN" altLang="en-US" sz="7200" b="1" dirty="0">
              <a:solidFill>
                <a:srgbClr val="113F4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19" name="圆角矩形 17">
            <a:extLst>
              <a:ext uri="{FF2B5EF4-FFF2-40B4-BE49-F238E27FC236}">
                <a16:creationId xmlns:a16="http://schemas.microsoft.com/office/drawing/2014/main" id="{226707D0-568E-446A-B476-87F58A172B16}"/>
              </a:ext>
            </a:extLst>
          </p:cNvPr>
          <p:cNvSpPr/>
          <p:nvPr/>
        </p:nvSpPr>
        <p:spPr>
          <a:xfrm>
            <a:off x="7407505" y="3932464"/>
            <a:ext cx="4045899" cy="361016"/>
          </a:xfrm>
          <a:prstGeom prst="roundRect">
            <a:avLst>
              <a:gd name="adj" fmla="val 0"/>
            </a:avLst>
          </a:prstGeom>
          <a:solidFill>
            <a:srgbClr val="55C0AF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400" dirty="0">
              <a:solidFill>
                <a:schemeClr val="bg1"/>
              </a:solidFill>
              <a:latin typeface="+mj-lt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20688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Formal Presentation Template，Freepptbackgrounds.ne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3449</TotalTime>
  <Words>383</Words>
  <Application>Microsoft Office PowerPoint</Application>
  <PresentationFormat>Widescreen</PresentationFormat>
  <Paragraphs>43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微软雅黑</vt:lpstr>
      <vt:lpstr>Aptos Display</vt:lpstr>
      <vt:lpstr>Arial</vt:lpstr>
      <vt:lpstr>Calibri</vt:lpstr>
      <vt:lpstr>Century Gothic</vt:lpstr>
      <vt:lpstr>Helvetica Neue</vt:lpstr>
      <vt:lpstr>Wingdings</vt:lpstr>
      <vt:lpstr>Formal Presentation Template，Freepptbackgrounds.net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Freepptbackgrounds.net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Presentation Template</dc:title>
  <dc:subject>Powerpoint Template</dc:subject>
  <dc:creator>Freepptbackgrounds.net</dc:creator>
  <cp:keywords>Formal Presentation Template</cp:keywords>
  <dc:description>Formal Presentation Template_x000d_
www.freepptbackgrounds.net</dc:description>
  <cp:lastModifiedBy>Christine Mukiri</cp:lastModifiedBy>
  <cp:revision>290</cp:revision>
  <dcterms:created xsi:type="dcterms:W3CDTF">2018-02-23T07:21:57Z</dcterms:created>
  <dcterms:modified xsi:type="dcterms:W3CDTF">2025-04-30T05:18:38Z</dcterms:modified>
</cp:coreProperties>
</file>